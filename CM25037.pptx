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0" r:id="rId4"/>
    <p:sldId id="259" r:id="rId5"/>
    <p:sldId id="261" r:id="rId6"/>
    <p:sldId id="262" r:id="rId7"/>
    <p:sldId id="258" r:id="rId8"/>
    <p:sldId id="263" r:id="rId9"/>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800" b="1" i="0">
                <a:solidFill>
                  <a:schemeClr val="hlink"/>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hlink"/>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hlink"/>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hlink"/>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46050" y="6390640"/>
            <a:ext cx="8832850" cy="309880"/>
          </a:xfrm>
          <a:custGeom>
            <a:avLst/>
            <a:gdLst/>
            <a:ahLst/>
            <a:cxnLst/>
            <a:rect l="l" t="t" r="r" b="b"/>
            <a:pathLst>
              <a:path w="8832850" h="309879">
                <a:moveTo>
                  <a:pt x="8832849" y="309880"/>
                </a:moveTo>
                <a:lnTo>
                  <a:pt x="0" y="309880"/>
                </a:lnTo>
                <a:lnTo>
                  <a:pt x="0" y="0"/>
                </a:lnTo>
                <a:lnTo>
                  <a:pt x="8832849" y="0"/>
                </a:lnTo>
                <a:lnTo>
                  <a:pt x="8832849" y="309880"/>
                </a:lnTo>
                <a:close/>
              </a:path>
            </a:pathLst>
          </a:custGeom>
          <a:solidFill>
            <a:srgbClr val="8BABAD"/>
          </a:solidFill>
        </p:spPr>
        <p:txBody>
          <a:bodyPr wrap="square" lIns="0" tIns="0" rIns="0" bIns="0" rtlCol="0"/>
          <a:lstStyle/>
          <a:p>
            <a:endParaRPr/>
          </a:p>
        </p:txBody>
      </p:sp>
      <p:sp>
        <p:nvSpPr>
          <p:cNvPr id="17" name="bg object 17"/>
          <p:cNvSpPr/>
          <p:nvPr/>
        </p:nvSpPr>
        <p:spPr>
          <a:xfrm>
            <a:off x="152400" y="158750"/>
            <a:ext cx="8832850" cy="6546850"/>
          </a:xfrm>
          <a:custGeom>
            <a:avLst/>
            <a:gdLst/>
            <a:ahLst/>
            <a:cxnLst/>
            <a:rect l="l" t="t" r="r" b="b"/>
            <a:pathLst>
              <a:path w="8832850" h="6546850">
                <a:moveTo>
                  <a:pt x="4415789" y="6546849"/>
                </a:moveTo>
                <a:lnTo>
                  <a:pt x="0" y="6546849"/>
                </a:lnTo>
                <a:lnTo>
                  <a:pt x="0" y="0"/>
                </a:lnTo>
                <a:lnTo>
                  <a:pt x="8832849" y="0"/>
                </a:lnTo>
                <a:lnTo>
                  <a:pt x="8832849" y="6546849"/>
                </a:lnTo>
                <a:lnTo>
                  <a:pt x="4415789" y="6546849"/>
                </a:lnTo>
                <a:close/>
              </a:path>
            </a:pathLst>
          </a:custGeom>
          <a:ln w="9524">
            <a:solidFill>
              <a:srgbClr val="799798"/>
            </a:solidFill>
          </a:ln>
        </p:spPr>
        <p:txBody>
          <a:bodyPr wrap="square" lIns="0" tIns="0" rIns="0" bIns="0" rtlCol="0"/>
          <a:lstStyle/>
          <a:p>
            <a:endParaRPr/>
          </a:p>
        </p:txBody>
      </p:sp>
      <p:sp>
        <p:nvSpPr>
          <p:cNvPr id="2" name="Holder 2"/>
          <p:cNvSpPr>
            <a:spLocks noGrp="1"/>
          </p:cNvSpPr>
          <p:nvPr>
            <p:ph type="title"/>
          </p:nvPr>
        </p:nvSpPr>
        <p:spPr>
          <a:xfrm>
            <a:off x="3048426" y="2896496"/>
            <a:ext cx="3138804" cy="756920"/>
          </a:xfrm>
          <a:prstGeom prst="rect">
            <a:avLst/>
          </a:prstGeom>
        </p:spPr>
        <p:txBody>
          <a:bodyPr wrap="square" lIns="0" tIns="0" rIns="0" bIns="0">
            <a:spAutoFit/>
          </a:bodyPr>
          <a:lstStyle>
            <a:lvl1pPr>
              <a:defRPr sz="4800" b="1" i="0">
                <a:solidFill>
                  <a:schemeClr val="hlink"/>
                </a:solidFill>
                <a:latin typeface="Arial"/>
                <a:cs typeface="Arial"/>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7200" y="285368"/>
            <a:ext cx="7848600" cy="1490152"/>
          </a:xfrm>
          <a:prstGeom prst="rect">
            <a:avLst/>
          </a:prstGeom>
        </p:spPr>
        <p:txBody>
          <a:bodyPr vert="horz" wrap="square" lIns="0" tIns="12700" rIns="0" bIns="0" rtlCol="0">
            <a:spAutoFit/>
          </a:bodyPr>
          <a:lstStyle/>
          <a:p>
            <a:pPr marL="12700" marR="5080" algn="ctr">
              <a:lnSpc>
                <a:spcPct val="100000"/>
              </a:lnSpc>
              <a:spcBef>
                <a:spcPts val="100"/>
              </a:spcBef>
            </a:pPr>
            <a:r>
              <a:rPr sz="3200" dirty="0">
                <a:solidFill>
                  <a:srgbClr val="000000"/>
                </a:solidFill>
                <a:latin typeface="Times New Roman"/>
                <a:cs typeface="Times New Roman"/>
              </a:rPr>
              <a:t>Experiential</a:t>
            </a:r>
            <a:r>
              <a:rPr sz="3200" spc="-60" dirty="0">
                <a:solidFill>
                  <a:srgbClr val="000000"/>
                </a:solidFill>
                <a:latin typeface="Times New Roman"/>
                <a:cs typeface="Times New Roman"/>
              </a:rPr>
              <a:t> </a:t>
            </a:r>
            <a:r>
              <a:rPr sz="3200" spc="-10" dirty="0">
                <a:solidFill>
                  <a:srgbClr val="000000"/>
                </a:solidFill>
                <a:latin typeface="Times New Roman"/>
                <a:cs typeface="Times New Roman"/>
              </a:rPr>
              <a:t>Learning </a:t>
            </a:r>
            <a:r>
              <a:rPr sz="3200" dirty="0">
                <a:solidFill>
                  <a:srgbClr val="000000"/>
                </a:solidFill>
                <a:latin typeface="Times New Roman"/>
                <a:cs typeface="Times New Roman"/>
              </a:rPr>
              <a:t>Project</a:t>
            </a:r>
            <a:r>
              <a:rPr sz="3200" spc="5" dirty="0">
                <a:solidFill>
                  <a:srgbClr val="000000"/>
                </a:solidFill>
                <a:latin typeface="Times New Roman"/>
                <a:cs typeface="Times New Roman"/>
              </a:rPr>
              <a:t> </a:t>
            </a:r>
            <a:r>
              <a:rPr sz="3200" spc="-30" dirty="0">
                <a:solidFill>
                  <a:srgbClr val="000000"/>
                </a:solidFill>
                <a:latin typeface="Times New Roman"/>
                <a:cs typeface="Times New Roman"/>
              </a:rPr>
              <a:t>Assessment-</a:t>
            </a:r>
            <a:r>
              <a:rPr sz="3200" spc="-50" dirty="0">
                <a:solidFill>
                  <a:srgbClr val="000000"/>
                </a:solidFill>
                <a:latin typeface="Times New Roman"/>
                <a:cs typeface="Times New Roman"/>
              </a:rPr>
              <a:t>I </a:t>
            </a:r>
            <a:r>
              <a:rPr sz="3200" spc="-25" dirty="0">
                <a:solidFill>
                  <a:srgbClr val="000000"/>
                </a:solidFill>
                <a:latin typeface="Times New Roman"/>
                <a:cs typeface="Times New Roman"/>
              </a:rPr>
              <a:t>on</a:t>
            </a:r>
            <a:endParaRPr sz="3200" dirty="0">
              <a:latin typeface="Times New Roman"/>
              <a:cs typeface="Times New Roman"/>
            </a:endParaRPr>
          </a:p>
          <a:p>
            <a:pPr marL="2540" algn="ctr">
              <a:lnSpc>
                <a:spcPct val="100000"/>
              </a:lnSpc>
            </a:pPr>
            <a:r>
              <a:rPr sz="3200" dirty="0">
                <a:latin typeface="Times New Roman"/>
                <a:cs typeface="Times New Roman"/>
              </a:rPr>
              <a:t>“</a:t>
            </a:r>
            <a:r>
              <a:rPr lang="en-IN" sz="3200" dirty="0">
                <a:solidFill>
                  <a:srgbClr val="FF0000"/>
                </a:solidFill>
              </a:rPr>
              <a:t>File Encryption/Decryption Tool</a:t>
            </a:r>
            <a:r>
              <a:rPr sz="3200" spc="-10" dirty="0">
                <a:latin typeface="Times New Roman"/>
                <a:cs typeface="Times New Roman"/>
              </a:rPr>
              <a:t>”</a:t>
            </a:r>
            <a:endParaRPr sz="3200" dirty="0">
              <a:latin typeface="Times New Roman"/>
              <a:cs typeface="Times New Roman"/>
            </a:endParaRPr>
          </a:p>
        </p:txBody>
      </p:sp>
      <p:sp>
        <p:nvSpPr>
          <p:cNvPr id="3" name="object 3"/>
          <p:cNvSpPr txBox="1"/>
          <p:nvPr/>
        </p:nvSpPr>
        <p:spPr>
          <a:xfrm>
            <a:off x="1080770" y="1904606"/>
            <a:ext cx="6601459" cy="820419"/>
          </a:xfrm>
          <a:prstGeom prst="rect">
            <a:avLst/>
          </a:prstGeom>
        </p:spPr>
        <p:txBody>
          <a:bodyPr vert="horz" wrap="square" lIns="0" tIns="12700" rIns="0" bIns="0" rtlCol="0">
            <a:spAutoFit/>
          </a:bodyPr>
          <a:lstStyle/>
          <a:p>
            <a:pPr algn="ctr">
              <a:lnSpc>
                <a:spcPct val="100000"/>
              </a:lnSpc>
              <a:spcBef>
                <a:spcPts val="100"/>
              </a:spcBef>
            </a:pPr>
            <a:r>
              <a:rPr sz="2800" b="1" dirty="0">
                <a:solidFill>
                  <a:srgbClr val="0000FF"/>
                </a:solidFill>
                <a:latin typeface="Times New Roman"/>
                <a:cs typeface="Times New Roman"/>
              </a:rPr>
              <a:t>under</a:t>
            </a:r>
            <a:r>
              <a:rPr sz="2800" b="1" spc="-75" dirty="0">
                <a:solidFill>
                  <a:srgbClr val="0000FF"/>
                </a:solidFill>
                <a:latin typeface="Times New Roman"/>
                <a:cs typeface="Times New Roman"/>
              </a:rPr>
              <a:t> </a:t>
            </a:r>
            <a:r>
              <a:rPr sz="2800" b="1" dirty="0">
                <a:solidFill>
                  <a:srgbClr val="0000FF"/>
                </a:solidFill>
                <a:latin typeface="Times New Roman"/>
                <a:cs typeface="Times New Roman"/>
              </a:rPr>
              <a:t>the</a:t>
            </a:r>
            <a:r>
              <a:rPr sz="2800" b="1" spc="-75" dirty="0">
                <a:solidFill>
                  <a:srgbClr val="0000FF"/>
                </a:solidFill>
                <a:latin typeface="Times New Roman"/>
                <a:cs typeface="Times New Roman"/>
              </a:rPr>
              <a:t> </a:t>
            </a:r>
            <a:r>
              <a:rPr sz="2800" b="1" spc="-10" dirty="0">
                <a:solidFill>
                  <a:srgbClr val="0000FF"/>
                </a:solidFill>
                <a:latin typeface="Times New Roman"/>
                <a:cs typeface="Times New Roman"/>
              </a:rPr>
              <a:t>course</a:t>
            </a:r>
            <a:endParaRPr sz="2800" dirty="0">
              <a:latin typeface="Times New Roman"/>
              <a:cs typeface="Times New Roman"/>
            </a:endParaRPr>
          </a:p>
          <a:p>
            <a:pPr algn="ctr">
              <a:lnSpc>
                <a:spcPct val="100000"/>
              </a:lnSpc>
              <a:spcBef>
                <a:spcPts val="15"/>
              </a:spcBef>
            </a:pPr>
            <a:r>
              <a:rPr sz="2400" b="1" dirty="0">
                <a:solidFill>
                  <a:srgbClr val="0000FF"/>
                </a:solidFill>
                <a:latin typeface="Times New Roman"/>
                <a:cs typeface="Times New Roman"/>
              </a:rPr>
              <a:t>Python</a:t>
            </a:r>
            <a:r>
              <a:rPr sz="2400" b="1" spc="-75" dirty="0">
                <a:solidFill>
                  <a:srgbClr val="0000FF"/>
                </a:solidFill>
                <a:latin typeface="Times New Roman"/>
                <a:cs typeface="Times New Roman"/>
              </a:rPr>
              <a:t> </a:t>
            </a:r>
            <a:r>
              <a:rPr sz="2400" b="1" dirty="0">
                <a:solidFill>
                  <a:srgbClr val="0000FF"/>
                </a:solidFill>
                <a:latin typeface="Times New Roman"/>
                <a:cs typeface="Times New Roman"/>
              </a:rPr>
              <a:t>Programming</a:t>
            </a:r>
            <a:r>
              <a:rPr sz="2400" b="1" spc="-70" dirty="0">
                <a:solidFill>
                  <a:srgbClr val="0000FF"/>
                </a:solidFill>
                <a:latin typeface="Times New Roman"/>
                <a:cs typeface="Times New Roman"/>
              </a:rPr>
              <a:t> </a:t>
            </a:r>
            <a:r>
              <a:rPr sz="2400" b="1" dirty="0">
                <a:solidFill>
                  <a:srgbClr val="0000FF"/>
                </a:solidFill>
                <a:latin typeface="Times New Roman"/>
                <a:cs typeface="Times New Roman"/>
              </a:rPr>
              <a:t>Language</a:t>
            </a:r>
            <a:r>
              <a:rPr sz="2400" b="1" spc="-75" dirty="0">
                <a:solidFill>
                  <a:srgbClr val="0000FF"/>
                </a:solidFill>
                <a:latin typeface="Times New Roman"/>
                <a:cs typeface="Times New Roman"/>
              </a:rPr>
              <a:t> </a:t>
            </a:r>
            <a:r>
              <a:rPr sz="2400" b="1" spc="-20" dirty="0">
                <a:solidFill>
                  <a:srgbClr val="0000FF"/>
                </a:solidFill>
                <a:latin typeface="Times New Roman"/>
                <a:cs typeface="Times New Roman"/>
              </a:rPr>
              <a:t>(N-</a:t>
            </a:r>
            <a:r>
              <a:rPr sz="2400" b="1" spc="-10" dirty="0">
                <a:solidFill>
                  <a:srgbClr val="0000FF"/>
                </a:solidFill>
                <a:latin typeface="Times New Roman"/>
                <a:cs typeface="Times New Roman"/>
              </a:rPr>
              <a:t>PCCCM304P)</a:t>
            </a:r>
            <a:endParaRPr sz="2400" dirty="0">
              <a:latin typeface="Times New Roman"/>
              <a:cs typeface="Times New Roman"/>
            </a:endParaRPr>
          </a:p>
        </p:txBody>
      </p:sp>
      <p:sp>
        <p:nvSpPr>
          <p:cNvPr id="4" name="object 4"/>
          <p:cNvSpPr txBox="1"/>
          <p:nvPr/>
        </p:nvSpPr>
        <p:spPr>
          <a:xfrm>
            <a:off x="758825" y="3310932"/>
            <a:ext cx="2476469" cy="948978"/>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Presented</a:t>
            </a:r>
            <a:r>
              <a:rPr sz="2000" b="1" spc="-45" dirty="0">
                <a:latin typeface="Times New Roman"/>
                <a:cs typeface="Times New Roman"/>
              </a:rPr>
              <a:t> </a:t>
            </a:r>
            <a:r>
              <a:rPr sz="2000" b="1" spc="-25" dirty="0">
                <a:latin typeface="Times New Roman"/>
                <a:cs typeface="Times New Roman"/>
              </a:rPr>
              <a:t>By</a:t>
            </a:r>
            <a:r>
              <a:rPr lang="en-US" sz="2000" b="1" spc="-25" dirty="0">
                <a:latin typeface="Times New Roman"/>
                <a:cs typeface="Times New Roman"/>
              </a:rPr>
              <a:t> : Nivedita Nandurkar</a:t>
            </a:r>
          </a:p>
          <a:p>
            <a:pPr marL="12700">
              <a:lnSpc>
                <a:spcPct val="100000"/>
              </a:lnSpc>
              <a:spcBef>
                <a:spcPts val="100"/>
              </a:spcBef>
            </a:pPr>
            <a:r>
              <a:rPr lang="en-US" sz="2000" b="1" spc="-25" dirty="0">
                <a:latin typeface="Times New Roman"/>
                <a:cs typeface="Times New Roman"/>
              </a:rPr>
              <a:t>(CM25037)</a:t>
            </a:r>
            <a:endParaRPr sz="2000" dirty="0">
              <a:latin typeface="Times New Roman"/>
              <a:cs typeface="Times New Roman"/>
            </a:endParaRPr>
          </a:p>
        </p:txBody>
      </p:sp>
      <p:sp>
        <p:nvSpPr>
          <p:cNvPr id="5" name="object 5"/>
          <p:cNvSpPr txBox="1"/>
          <p:nvPr/>
        </p:nvSpPr>
        <p:spPr>
          <a:xfrm>
            <a:off x="5897422" y="3292240"/>
            <a:ext cx="2223770" cy="939800"/>
          </a:xfrm>
          <a:prstGeom prst="rect">
            <a:avLst/>
          </a:prstGeom>
        </p:spPr>
        <p:txBody>
          <a:bodyPr vert="horz" wrap="square" lIns="0" tIns="12700" rIns="0" bIns="0" rtlCol="0">
            <a:spAutoFit/>
          </a:bodyPr>
          <a:lstStyle/>
          <a:p>
            <a:pPr marL="1007110" marR="5080" indent="-995044">
              <a:lnSpc>
                <a:spcPct val="100000"/>
              </a:lnSpc>
              <a:spcBef>
                <a:spcPts val="100"/>
              </a:spcBef>
            </a:pPr>
            <a:r>
              <a:rPr sz="2000" b="1" dirty="0">
                <a:latin typeface="Times New Roman"/>
                <a:cs typeface="Times New Roman"/>
              </a:rPr>
              <a:t>Under</a:t>
            </a:r>
            <a:r>
              <a:rPr sz="2000" b="1" spc="-50" dirty="0">
                <a:latin typeface="Times New Roman"/>
                <a:cs typeface="Times New Roman"/>
              </a:rPr>
              <a:t> </a:t>
            </a:r>
            <a:r>
              <a:rPr sz="2000" b="1" dirty="0">
                <a:latin typeface="Times New Roman"/>
                <a:cs typeface="Times New Roman"/>
              </a:rPr>
              <a:t>the</a:t>
            </a:r>
            <a:r>
              <a:rPr sz="2000" b="1" spc="-45" dirty="0">
                <a:latin typeface="Times New Roman"/>
                <a:cs typeface="Times New Roman"/>
              </a:rPr>
              <a:t> </a:t>
            </a:r>
            <a:r>
              <a:rPr sz="2000" b="1" spc="-10" dirty="0">
                <a:latin typeface="Times New Roman"/>
                <a:cs typeface="Times New Roman"/>
              </a:rPr>
              <a:t>Guidance </a:t>
            </a:r>
            <a:r>
              <a:rPr sz="2000" b="1" spc="-25" dirty="0">
                <a:latin typeface="Times New Roman"/>
                <a:cs typeface="Times New Roman"/>
              </a:rPr>
              <a:t>of</a:t>
            </a:r>
            <a:endParaRPr sz="2000" dirty="0">
              <a:latin typeface="Times New Roman"/>
              <a:cs typeface="Times New Roman"/>
            </a:endParaRPr>
          </a:p>
          <a:p>
            <a:pPr marL="23495">
              <a:lnSpc>
                <a:spcPct val="100000"/>
              </a:lnSpc>
            </a:pPr>
            <a:r>
              <a:rPr sz="2000" b="1" dirty="0">
                <a:latin typeface="Times New Roman"/>
                <a:cs typeface="Times New Roman"/>
              </a:rPr>
              <a:t>Mrs.</a:t>
            </a:r>
            <a:r>
              <a:rPr sz="2000" b="1" spc="-15" dirty="0">
                <a:latin typeface="Times New Roman"/>
                <a:cs typeface="Times New Roman"/>
              </a:rPr>
              <a:t> </a:t>
            </a:r>
            <a:r>
              <a:rPr sz="2000" b="1" dirty="0">
                <a:latin typeface="Times New Roman"/>
                <a:cs typeface="Times New Roman"/>
              </a:rPr>
              <a:t>Mayuri</a:t>
            </a:r>
            <a:r>
              <a:rPr sz="2000" b="1" spc="-15" dirty="0">
                <a:latin typeface="Times New Roman"/>
                <a:cs typeface="Times New Roman"/>
              </a:rPr>
              <a:t> </a:t>
            </a:r>
            <a:r>
              <a:rPr sz="2000" b="1" spc="-10" dirty="0">
                <a:latin typeface="Times New Roman"/>
                <a:cs typeface="Times New Roman"/>
              </a:rPr>
              <a:t>Getme</a:t>
            </a:r>
            <a:endParaRPr sz="2000" dirty="0">
              <a:latin typeface="Times New Roman"/>
              <a:cs typeface="Times New Roman"/>
            </a:endParaRPr>
          </a:p>
        </p:txBody>
      </p:sp>
      <p:pic>
        <p:nvPicPr>
          <p:cNvPr id="6" name="object 6"/>
          <p:cNvPicPr/>
          <p:nvPr/>
        </p:nvPicPr>
        <p:blipFill>
          <a:blip r:embed="rId2" cstate="print"/>
          <a:stretch>
            <a:fillRect/>
          </a:stretch>
        </p:blipFill>
        <p:spPr>
          <a:xfrm>
            <a:off x="3139446" y="2860441"/>
            <a:ext cx="2223770" cy="1635359"/>
          </a:xfrm>
          <a:prstGeom prst="rect">
            <a:avLst/>
          </a:prstGeom>
        </p:spPr>
      </p:pic>
      <p:sp>
        <p:nvSpPr>
          <p:cNvPr id="7" name="object 7"/>
          <p:cNvSpPr txBox="1"/>
          <p:nvPr/>
        </p:nvSpPr>
        <p:spPr>
          <a:xfrm>
            <a:off x="1005675" y="4662423"/>
            <a:ext cx="7997825" cy="2033905"/>
          </a:xfrm>
          <a:prstGeom prst="rect">
            <a:avLst/>
          </a:prstGeom>
        </p:spPr>
        <p:txBody>
          <a:bodyPr vert="horz" wrap="square" lIns="0" tIns="12700" rIns="0" bIns="0" rtlCol="0">
            <a:spAutoFit/>
          </a:bodyPr>
          <a:lstStyle/>
          <a:p>
            <a:pPr marL="2336165">
              <a:lnSpc>
                <a:spcPct val="100000"/>
              </a:lnSpc>
              <a:spcBef>
                <a:spcPts val="100"/>
              </a:spcBef>
            </a:pPr>
            <a:r>
              <a:rPr sz="2200" b="1" spc="-10" dirty="0">
                <a:latin typeface="Times New Roman"/>
                <a:cs typeface="Times New Roman"/>
              </a:rPr>
              <a:t>Session:2026-</a:t>
            </a:r>
            <a:r>
              <a:rPr sz="2200" b="1" dirty="0">
                <a:latin typeface="Times New Roman"/>
                <a:cs typeface="Times New Roman"/>
              </a:rPr>
              <a:t>27</a:t>
            </a:r>
            <a:r>
              <a:rPr sz="2200" b="1" spc="-55" dirty="0">
                <a:latin typeface="Times New Roman"/>
                <a:cs typeface="Times New Roman"/>
              </a:rPr>
              <a:t> </a:t>
            </a:r>
            <a:r>
              <a:rPr sz="2200" b="1" dirty="0">
                <a:latin typeface="Times New Roman"/>
                <a:cs typeface="Times New Roman"/>
              </a:rPr>
              <a:t>(ODD</a:t>
            </a:r>
            <a:r>
              <a:rPr sz="2200" b="1" spc="-50" dirty="0">
                <a:latin typeface="Times New Roman"/>
                <a:cs typeface="Times New Roman"/>
              </a:rPr>
              <a:t> )</a:t>
            </a:r>
            <a:endParaRPr sz="2200">
              <a:latin typeface="Times New Roman"/>
              <a:cs typeface="Times New Roman"/>
            </a:endParaRPr>
          </a:p>
          <a:p>
            <a:pPr marL="2308860">
              <a:lnSpc>
                <a:spcPct val="100000"/>
              </a:lnSpc>
              <a:spcBef>
                <a:spcPts val="15"/>
              </a:spcBef>
            </a:pPr>
            <a:r>
              <a:rPr sz="1800" b="1" dirty="0">
                <a:latin typeface="Times New Roman"/>
                <a:cs typeface="Times New Roman"/>
              </a:rPr>
              <a:t>Department</a:t>
            </a:r>
            <a:r>
              <a:rPr sz="1800" b="1" spc="-55" dirty="0">
                <a:latin typeface="Times New Roman"/>
                <a:cs typeface="Times New Roman"/>
              </a:rPr>
              <a:t> </a:t>
            </a:r>
            <a:r>
              <a:rPr sz="1800" b="1" dirty="0">
                <a:latin typeface="Times New Roman"/>
                <a:cs typeface="Times New Roman"/>
              </a:rPr>
              <a:t>of</a:t>
            </a:r>
            <a:r>
              <a:rPr sz="1800" b="1" spc="-55" dirty="0">
                <a:latin typeface="Times New Roman"/>
                <a:cs typeface="Times New Roman"/>
              </a:rPr>
              <a:t> </a:t>
            </a:r>
            <a:r>
              <a:rPr sz="1800" b="1" spc="-10" dirty="0">
                <a:latin typeface="Times New Roman"/>
                <a:cs typeface="Times New Roman"/>
              </a:rPr>
              <a:t>CSE(AI&amp;ML)</a:t>
            </a:r>
            <a:endParaRPr sz="1800">
              <a:latin typeface="Times New Roman"/>
              <a:cs typeface="Times New Roman"/>
            </a:endParaRPr>
          </a:p>
          <a:p>
            <a:pPr marL="12700">
              <a:lnSpc>
                <a:spcPts val="2340"/>
              </a:lnSpc>
              <a:spcBef>
                <a:spcPts val="635"/>
              </a:spcBef>
            </a:pPr>
            <a:r>
              <a:rPr sz="2000" b="1" dirty="0">
                <a:latin typeface="Times New Roman"/>
                <a:cs typeface="Times New Roman"/>
              </a:rPr>
              <a:t>S.</a:t>
            </a:r>
            <a:r>
              <a:rPr sz="2000" b="1" spc="-50" dirty="0">
                <a:latin typeface="Times New Roman"/>
                <a:cs typeface="Times New Roman"/>
              </a:rPr>
              <a:t> </a:t>
            </a:r>
            <a:r>
              <a:rPr sz="2000" b="1" dirty="0">
                <a:latin typeface="Times New Roman"/>
                <a:cs typeface="Times New Roman"/>
              </a:rPr>
              <a:t>B.</a:t>
            </a:r>
            <a:r>
              <a:rPr sz="2000" b="1" spc="-50" dirty="0">
                <a:latin typeface="Times New Roman"/>
                <a:cs typeface="Times New Roman"/>
              </a:rPr>
              <a:t> </a:t>
            </a:r>
            <a:r>
              <a:rPr sz="2000" b="1" dirty="0">
                <a:latin typeface="Times New Roman"/>
                <a:cs typeface="Times New Roman"/>
              </a:rPr>
              <a:t>JAIN</a:t>
            </a:r>
            <a:r>
              <a:rPr sz="2000" b="1" spc="-55" dirty="0">
                <a:latin typeface="Times New Roman"/>
                <a:cs typeface="Times New Roman"/>
              </a:rPr>
              <a:t> </a:t>
            </a:r>
            <a:r>
              <a:rPr sz="2000" b="1" spc="-10" dirty="0">
                <a:latin typeface="Times New Roman"/>
                <a:cs typeface="Times New Roman"/>
              </a:rPr>
              <a:t>INSTITUTE</a:t>
            </a:r>
            <a:r>
              <a:rPr sz="2000" b="1" spc="-55" dirty="0">
                <a:latin typeface="Times New Roman"/>
                <a:cs typeface="Times New Roman"/>
              </a:rPr>
              <a:t> </a:t>
            </a:r>
            <a:r>
              <a:rPr sz="2000" b="1" dirty="0">
                <a:latin typeface="Times New Roman"/>
                <a:cs typeface="Times New Roman"/>
              </a:rPr>
              <a:t>OF</a:t>
            </a:r>
            <a:r>
              <a:rPr sz="2000" b="1" spc="-55" dirty="0">
                <a:latin typeface="Times New Roman"/>
                <a:cs typeface="Times New Roman"/>
              </a:rPr>
              <a:t> </a:t>
            </a:r>
            <a:r>
              <a:rPr sz="2000" b="1" spc="-10" dirty="0">
                <a:latin typeface="Times New Roman"/>
                <a:cs typeface="Times New Roman"/>
              </a:rPr>
              <a:t>TECHNOLOGY</a:t>
            </a:r>
            <a:r>
              <a:rPr sz="2000" b="1" spc="-55" dirty="0">
                <a:latin typeface="Times New Roman"/>
                <a:cs typeface="Times New Roman"/>
              </a:rPr>
              <a:t> </a:t>
            </a:r>
            <a:r>
              <a:rPr sz="2000" b="1" spc="-10" dirty="0">
                <a:latin typeface="Times New Roman"/>
                <a:cs typeface="Times New Roman"/>
              </a:rPr>
              <a:t>MANAGEMENT</a:t>
            </a:r>
            <a:r>
              <a:rPr sz="2000" b="1" spc="-55" dirty="0">
                <a:latin typeface="Times New Roman"/>
                <a:cs typeface="Times New Roman"/>
              </a:rPr>
              <a:t> </a:t>
            </a:r>
            <a:r>
              <a:rPr sz="2000" b="1" spc="-25" dirty="0">
                <a:latin typeface="Times New Roman"/>
                <a:cs typeface="Times New Roman"/>
              </a:rPr>
              <a:t>AND</a:t>
            </a:r>
            <a:endParaRPr sz="2000">
              <a:latin typeface="Times New Roman"/>
              <a:cs typeface="Times New Roman"/>
            </a:endParaRPr>
          </a:p>
          <a:p>
            <a:pPr marL="2286000">
              <a:lnSpc>
                <a:spcPts val="2255"/>
              </a:lnSpc>
            </a:pPr>
            <a:r>
              <a:rPr sz="2000" b="1" spc="-10" dirty="0">
                <a:latin typeface="Times New Roman"/>
                <a:cs typeface="Times New Roman"/>
              </a:rPr>
              <a:t>RESEARCH,NAGPUR</a:t>
            </a:r>
            <a:endParaRPr sz="2000">
              <a:latin typeface="Times New Roman"/>
              <a:cs typeface="Times New Roman"/>
            </a:endParaRPr>
          </a:p>
          <a:p>
            <a:pPr marL="483870">
              <a:lnSpc>
                <a:spcPts val="2315"/>
              </a:lnSpc>
            </a:pPr>
            <a:r>
              <a:rPr sz="2000" b="1" dirty="0">
                <a:latin typeface="Times New Roman"/>
                <a:cs typeface="Times New Roman"/>
              </a:rPr>
              <a:t>An</a:t>
            </a:r>
            <a:r>
              <a:rPr sz="2000" b="1" spc="-40" dirty="0">
                <a:latin typeface="Times New Roman"/>
                <a:cs typeface="Times New Roman"/>
              </a:rPr>
              <a:t> </a:t>
            </a:r>
            <a:r>
              <a:rPr sz="2000" b="1" dirty="0">
                <a:latin typeface="Times New Roman"/>
                <a:cs typeface="Times New Roman"/>
              </a:rPr>
              <a:t>Autonomous</a:t>
            </a:r>
            <a:r>
              <a:rPr sz="2000" b="1" spc="-40" dirty="0">
                <a:latin typeface="Times New Roman"/>
                <a:cs typeface="Times New Roman"/>
              </a:rPr>
              <a:t> </a:t>
            </a:r>
            <a:r>
              <a:rPr sz="2000" b="1" dirty="0">
                <a:latin typeface="Times New Roman"/>
                <a:cs typeface="Times New Roman"/>
              </a:rPr>
              <a:t>Institute,</a:t>
            </a:r>
            <a:r>
              <a:rPr sz="2000" b="1" spc="-35" dirty="0">
                <a:latin typeface="Times New Roman"/>
                <a:cs typeface="Times New Roman"/>
              </a:rPr>
              <a:t> </a:t>
            </a:r>
            <a:r>
              <a:rPr sz="2000" b="1" dirty="0">
                <a:latin typeface="Times New Roman"/>
                <a:cs typeface="Times New Roman"/>
              </a:rPr>
              <a:t>Affiliated</a:t>
            </a:r>
            <a:r>
              <a:rPr sz="2000" b="1" spc="-35" dirty="0">
                <a:latin typeface="Times New Roman"/>
                <a:cs typeface="Times New Roman"/>
              </a:rPr>
              <a:t> </a:t>
            </a:r>
            <a:r>
              <a:rPr sz="2000" b="1" dirty="0">
                <a:latin typeface="Times New Roman"/>
                <a:cs typeface="Times New Roman"/>
              </a:rPr>
              <a:t>to</a:t>
            </a:r>
            <a:r>
              <a:rPr sz="2000" b="1" spc="-35" dirty="0">
                <a:latin typeface="Times New Roman"/>
                <a:cs typeface="Times New Roman"/>
              </a:rPr>
              <a:t> </a:t>
            </a:r>
            <a:r>
              <a:rPr sz="2000" b="1" dirty="0">
                <a:latin typeface="Times New Roman"/>
                <a:cs typeface="Times New Roman"/>
              </a:rPr>
              <a:t>RTMNU,</a:t>
            </a:r>
            <a:r>
              <a:rPr sz="2000" b="1" spc="-35" dirty="0">
                <a:latin typeface="Times New Roman"/>
                <a:cs typeface="Times New Roman"/>
              </a:rPr>
              <a:t> </a:t>
            </a:r>
            <a:r>
              <a:rPr sz="2000" b="1" spc="-10" dirty="0">
                <a:latin typeface="Times New Roman"/>
                <a:cs typeface="Times New Roman"/>
              </a:rPr>
              <a:t>Nagpur</a:t>
            </a:r>
            <a:endParaRPr sz="2000">
              <a:latin typeface="Times New Roman"/>
              <a:cs typeface="Times New Roman"/>
            </a:endParaRPr>
          </a:p>
          <a:p>
            <a:pPr marR="5080" algn="r">
              <a:lnSpc>
                <a:spcPct val="100000"/>
              </a:lnSpc>
              <a:spcBef>
                <a:spcPts val="1770"/>
              </a:spcBef>
            </a:pPr>
            <a:r>
              <a:rPr sz="1400" b="1" spc="-50" dirty="0">
                <a:solidFill>
                  <a:srgbClr val="FFFFFF"/>
                </a:solidFill>
                <a:latin typeface="Arial"/>
                <a:cs typeface="Arial"/>
              </a:rPr>
              <a:t>)</a:t>
            </a:r>
            <a:endParaRPr sz="14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57859" y="321817"/>
            <a:ext cx="1245870" cy="391160"/>
          </a:xfrm>
          <a:prstGeom prst="rect">
            <a:avLst/>
          </a:prstGeom>
        </p:spPr>
        <p:txBody>
          <a:bodyPr vert="horz" wrap="square" lIns="0" tIns="12700" rIns="0" bIns="0" rtlCol="0">
            <a:spAutoFit/>
          </a:bodyPr>
          <a:lstStyle/>
          <a:p>
            <a:pPr marL="12700">
              <a:lnSpc>
                <a:spcPct val="100000"/>
              </a:lnSpc>
              <a:spcBef>
                <a:spcPts val="100"/>
              </a:spcBef>
            </a:pPr>
            <a:r>
              <a:rPr sz="2400" b="0" spc="-10" dirty="0">
                <a:solidFill>
                  <a:srgbClr val="000000"/>
                </a:solidFill>
                <a:latin typeface="Arial MT"/>
                <a:cs typeface="Arial MT"/>
              </a:rPr>
              <a:t>Contents</a:t>
            </a:r>
            <a:endParaRPr sz="2400">
              <a:latin typeface="Arial MT"/>
              <a:cs typeface="Arial MT"/>
            </a:endParaRPr>
          </a:p>
        </p:txBody>
      </p:sp>
      <p:sp>
        <p:nvSpPr>
          <p:cNvPr id="3" name="object 3"/>
          <p:cNvSpPr txBox="1"/>
          <p:nvPr/>
        </p:nvSpPr>
        <p:spPr>
          <a:xfrm>
            <a:off x="783567" y="892555"/>
            <a:ext cx="7204075" cy="1274708"/>
          </a:xfrm>
          <a:prstGeom prst="rect">
            <a:avLst/>
          </a:prstGeom>
        </p:spPr>
        <p:txBody>
          <a:bodyPr vert="horz" wrap="square" lIns="0" tIns="12700" rIns="0" bIns="0" rtlCol="0">
            <a:spAutoFit/>
          </a:bodyPr>
          <a:lstStyle/>
          <a:p>
            <a:pPr marL="263525" indent="-250825">
              <a:spcBef>
                <a:spcPts val="100"/>
              </a:spcBef>
              <a:buFont typeface="Arial MT"/>
              <a:buChar char="•"/>
              <a:tabLst>
                <a:tab pos="263525" algn="l"/>
              </a:tabLst>
            </a:pPr>
            <a:r>
              <a:rPr sz="1800" dirty="0">
                <a:solidFill>
                  <a:schemeClr val="accent1"/>
                </a:solidFill>
                <a:latin typeface="Calibri"/>
                <a:cs typeface="Calibri"/>
              </a:rPr>
              <a:t>Problem</a:t>
            </a:r>
            <a:r>
              <a:rPr sz="1800" spc="-100" dirty="0">
                <a:solidFill>
                  <a:schemeClr val="accent1"/>
                </a:solidFill>
                <a:latin typeface="Calibri"/>
                <a:cs typeface="Calibri"/>
              </a:rPr>
              <a:t> </a:t>
            </a:r>
            <a:r>
              <a:rPr sz="1800" spc="-10" dirty="0">
                <a:solidFill>
                  <a:schemeClr val="accent1"/>
                </a:solidFill>
                <a:latin typeface="Calibri"/>
                <a:cs typeface="Calibri"/>
              </a:rPr>
              <a:t>statement</a:t>
            </a:r>
            <a:r>
              <a:rPr lang="en-US" sz="1800" spc="-10" dirty="0">
                <a:solidFill>
                  <a:schemeClr val="accent1"/>
                </a:solidFill>
                <a:latin typeface="Calibri"/>
                <a:cs typeface="Calibri"/>
              </a:rPr>
              <a:t> </a:t>
            </a:r>
            <a:r>
              <a:rPr lang="en-US" sz="1800" spc="-10" dirty="0">
                <a:latin typeface="Calibri"/>
                <a:cs typeface="Calibri"/>
              </a:rPr>
              <a:t>:</a:t>
            </a:r>
            <a:r>
              <a:rPr lang="en-US" sz="1600" spc="-10" dirty="0">
                <a:latin typeface="Calibri"/>
                <a:cs typeface="Calibri"/>
              </a:rPr>
              <a:t> </a:t>
            </a:r>
            <a:br>
              <a:rPr lang="en-US" sz="1600" spc="-10" dirty="0">
                <a:latin typeface="Calibri"/>
                <a:cs typeface="Calibri"/>
              </a:rPr>
            </a:br>
            <a:r>
              <a:rPr lang="en-IN" sz="1600" spc="-10" dirty="0">
                <a:latin typeface="Calibri"/>
                <a:cs typeface="Calibri"/>
              </a:rPr>
              <a:t>E</a:t>
            </a:r>
            <a:r>
              <a:rPr lang="en-IN" sz="1600" dirty="0"/>
              <a:t>ncrypt and Decrypt files. The application should protect sensitive information by converting the contents of a file into an unreadable format (encryption) using a secret key. Only users with the correct key should be able to restore the original content through decryption.</a:t>
            </a:r>
          </a:p>
        </p:txBody>
      </p:sp>
      <p:sp>
        <p:nvSpPr>
          <p:cNvPr id="4" name="object 4"/>
          <p:cNvSpPr txBox="1"/>
          <p:nvPr/>
        </p:nvSpPr>
        <p:spPr>
          <a:xfrm>
            <a:off x="382270" y="6405330"/>
            <a:ext cx="3479165" cy="459740"/>
          </a:xfrm>
          <a:prstGeom prst="rect">
            <a:avLst/>
          </a:prstGeom>
        </p:spPr>
        <p:txBody>
          <a:bodyPr vert="horz" wrap="square" lIns="0" tIns="12700" rIns="0" bIns="0" rtlCol="0">
            <a:spAutoFit/>
          </a:bodyPr>
          <a:lstStyle/>
          <a:p>
            <a:pPr marL="12700" marR="5080">
              <a:lnSpc>
                <a:spcPct val="118800"/>
              </a:lnSpc>
              <a:spcBef>
                <a:spcPts val="100"/>
              </a:spcBef>
            </a:pPr>
            <a:r>
              <a:rPr sz="1200" dirty="0">
                <a:solidFill>
                  <a:srgbClr val="FFFFFF"/>
                </a:solidFill>
                <a:latin typeface="Arial MT"/>
                <a:cs typeface="Arial MT"/>
              </a:rPr>
              <a:t>S.</a:t>
            </a:r>
            <a:r>
              <a:rPr sz="1200" spc="-25" dirty="0">
                <a:solidFill>
                  <a:srgbClr val="FFFFFF"/>
                </a:solidFill>
                <a:latin typeface="Arial MT"/>
                <a:cs typeface="Arial MT"/>
              </a:rPr>
              <a:t> </a:t>
            </a:r>
            <a:r>
              <a:rPr sz="1200" dirty="0">
                <a:solidFill>
                  <a:srgbClr val="FFFFFF"/>
                </a:solidFill>
                <a:latin typeface="Arial MT"/>
                <a:cs typeface="Arial MT"/>
              </a:rPr>
              <a:t>B.</a:t>
            </a:r>
            <a:r>
              <a:rPr sz="1200" spc="-25" dirty="0">
                <a:solidFill>
                  <a:srgbClr val="FFFFFF"/>
                </a:solidFill>
                <a:latin typeface="Arial MT"/>
                <a:cs typeface="Arial MT"/>
              </a:rPr>
              <a:t> </a:t>
            </a:r>
            <a:r>
              <a:rPr sz="1200" dirty="0">
                <a:solidFill>
                  <a:srgbClr val="FFFFFF"/>
                </a:solidFill>
                <a:latin typeface="Arial MT"/>
                <a:cs typeface="Arial MT"/>
              </a:rPr>
              <a:t>Jain</a:t>
            </a:r>
            <a:r>
              <a:rPr sz="1200" spc="-25" dirty="0">
                <a:solidFill>
                  <a:srgbClr val="FFFFFF"/>
                </a:solidFill>
                <a:latin typeface="Arial MT"/>
                <a:cs typeface="Arial MT"/>
              </a:rPr>
              <a:t> </a:t>
            </a:r>
            <a:r>
              <a:rPr sz="1200" dirty="0">
                <a:solidFill>
                  <a:srgbClr val="FFFFFF"/>
                </a:solidFill>
                <a:latin typeface="Arial MT"/>
                <a:cs typeface="Arial MT"/>
              </a:rPr>
              <a:t>Institute</a:t>
            </a:r>
            <a:r>
              <a:rPr sz="1200" spc="-25" dirty="0">
                <a:solidFill>
                  <a:srgbClr val="FFFFFF"/>
                </a:solidFill>
                <a:latin typeface="Arial MT"/>
                <a:cs typeface="Arial MT"/>
              </a:rPr>
              <a:t> </a:t>
            </a:r>
            <a:r>
              <a:rPr sz="1200" dirty="0">
                <a:solidFill>
                  <a:srgbClr val="FFFFFF"/>
                </a:solidFill>
                <a:latin typeface="Arial MT"/>
                <a:cs typeface="Arial MT"/>
              </a:rPr>
              <a:t>of</a:t>
            </a:r>
            <a:r>
              <a:rPr sz="1200" spc="-25" dirty="0">
                <a:solidFill>
                  <a:srgbClr val="FFFFFF"/>
                </a:solidFill>
                <a:latin typeface="Arial MT"/>
                <a:cs typeface="Arial MT"/>
              </a:rPr>
              <a:t> </a:t>
            </a:r>
            <a:r>
              <a:rPr sz="1200" dirty="0">
                <a:solidFill>
                  <a:srgbClr val="FFFFFF"/>
                </a:solidFill>
                <a:latin typeface="Arial MT"/>
                <a:cs typeface="Arial MT"/>
              </a:rPr>
              <a:t>Technology</a:t>
            </a:r>
            <a:r>
              <a:rPr sz="1200" spc="-25" dirty="0">
                <a:solidFill>
                  <a:srgbClr val="FFFFFF"/>
                </a:solidFill>
                <a:latin typeface="Arial MT"/>
                <a:cs typeface="Arial MT"/>
              </a:rPr>
              <a:t> </a:t>
            </a:r>
            <a:r>
              <a:rPr sz="1200" dirty="0">
                <a:solidFill>
                  <a:srgbClr val="FFFFFF"/>
                </a:solidFill>
                <a:latin typeface="Arial MT"/>
                <a:cs typeface="Arial MT"/>
              </a:rPr>
              <a:t>Management</a:t>
            </a:r>
            <a:r>
              <a:rPr sz="1200" spc="-25" dirty="0">
                <a:solidFill>
                  <a:srgbClr val="FFFFFF"/>
                </a:solidFill>
                <a:latin typeface="Arial MT"/>
                <a:cs typeface="Arial MT"/>
              </a:rPr>
              <a:t> and </a:t>
            </a:r>
            <a:r>
              <a:rPr sz="1200" spc="-10" dirty="0">
                <a:solidFill>
                  <a:srgbClr val="FFFFFF"/>
                </a:solidFill>
                <a:latin typeface="Arial MT"/>
                <a:cs typeface="Arial MT"/>
              </a:rPr>
              <a:t>research</a:t>
            </a:r>
            <a:endParaRPr sz="1200">
              <a:latin typeface="Arial MT"/>
              <a:cs typeface="Arial MT"/>
            </a:endParaRPr>
          </a:p>
        </p:txBody>
      </p:sp>
      <p:pic>
        <p:nvPicPr>
          <p:cNvPr id="6" name="Picture 5" descr="Create Secret Message Encryption and Decryption tool using Python | Gui  Tkinter project">
            <a:extLst>
              <a:ext uri="{FF2B5EF4-FFF2-40B4-BE49-F238E27FC236}">
                <a16:creationId xmlns:a16="http://schemas.microsoft.com/office/drawing/2014/main" id="{E261B92A-F2E5-B802-1487-CAAB1F2B2480}"/>
              </a:ext>
            </a:extLst>
          </p:cNvPr>
          <p:cNvPicPr>
            <a:picLocks noChangeAspect="1"/>
          </p:cNvPicPr>
          <p:nvPr/>
        </p:nvPicPr>
        <p:blipFill>
          <a:blip r:embed="rId2"/>
          <a:stretch>
            <a:fillRect/>
          </a:stretch>
        </p:blipFill>
        <p:spPr>
          <a:xfrm>
            <a:off x="382270" y="2590800"/>
            <a:ext cx="8456929" cy="35989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D4461-1BDC-A59A-03AA-A672855AE99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48A5DBB-7899-2FC7-3E0F-0F4C7C2F7639}"/>
              </a:ext>
            </a:extLst>
          </p:cNvPr>
          <p:cNvSpPr txBox="1"/>
          <p:nvPr/>
        </p:nvSpPr>
        <p:spPr>
          <a:xfrm>
            <a:off x="382270" y="457201"/>
            <a:ext cx="8152129" cy="5265544"/>
          </a:xfrm>
          <a:prstGeom prst="rect">
            <a:avLst/>
          </a:prstGeom>
        </p:spPr>
        <p:txBody>
          <a:bodyPr vert="horz" wrap="square" lIns="0" tIns="12700" rIns="0" bIns="0" rtlCol="0">
            <a:spAutoFit/>
          </a:bodyPr>
          <a:lstStyle/>
          <a:p>
            <a:pPr marL="263525" indent="-250825">
              <a:spcBef>
                <a:spcPts val="100"/>
              </a:spcBef>
              <a:buFont typeface="Arial MT"/>
              <a:buChar char="•"/>
              <a:tabLst>
                <a:tab pos="263525" algn="l"/>
              </a:tabLst>
            </a:pPr>
            <a:r>
              <a:rPr lang="en-US" sz="1800" spc="-10" dirty="0">
                <a:latin typeface="Calibri"/>
                <a:cs typeface="Calibri"/>
              </a:rPr>
              <a:t> </a:t>
            </a:r>
            <a:r>
              <a:rPr lang="en-US" sz="1800" spc="-10" dirty="0">
                <a:solidFill>
                  <a:schemeClr val="accent1"/>
                </a:solidFill>
                <a:latin typeface="Calibri"/>
                <a:cs typeface="Calibri"/>
              </a:rPr>
              <a:t>Objectives</a:t>
            </a:r>
            <a:r>
              <a:rPr lang="en-US" sz="1800" spc="-10" dirty="0">
                <a:latin typeface="Calibri"/>
                <a:cs typeface="Calibri"/>
              </a:rPr>
              <a:t> :</a:t>
            </a:r>
            <a:r>
              <a:rPr lang="en-US" sz="1600" spc="-10" dirty="0">
                <a:latin typeface="Calibri"/>
                <a:cs typeface="Calibri"/>
              </a:rPr>
              <a:t> </a:t>
            </a:r>
            <a:br>
              <a:rPr lang="en-US" sz="1600" spc="-10" dirty="0">
                <a:latin typeface="Calibri"/>
                <a:cs typeface="Calibri"/>
              </a:rPr>
            </a:br>
            <a:r>
              <a:rPr lang="en-IN" sz="1600" dirty="0"/>
              <a:t>The main objective of this project is to develop a </a:t>
            </a:r>
            <a:r>
              <a:rPr lang="en-IN" sz="1600" b="1" dirty="0"/>
              <a:t>File Encryption/Decryption Tool using Python</a:t>
            </a:r>
            <a:r>
              <a:rPr lang="en-IN" sz="1600" dirty="0"/>
              <a:t> to secure important and sensitive files. The tool will convert readable files into an unreadable encrypted format using a secret key. It will allow authorized users to decrypt the files using the correct key and restore the original content. The project aims to prevent unauthorized access and protect data privacy. It also demonstrates the practical use of </a:t>
            </a:r>
            <a:r>
              <a:rPr lang="en-IN" sz="1600" b="1" dirty="0"/>
              <a:t>cryptography and data security techniques</a:t>
            </a:r>
            <a:r>
              <a:rPr lang="en-IN" sz="1600" dirty="0"/>
              <a:t>.</a:t>
            </a:r>
          </a:p>
          <a:p>
            <a:pPr marL="12700">
              <a:spcBef>
                <a:spcPts val="100"/>
              </a:spcBef>
              <a:tabLst>
                <a:tab pos="263525" algn="l"/>
              </a:tabLst>
            </a:pPr>
            <a:endParaRPr lang="en-IN" sz="1600" dirty="0"/>
          </a:p>
          <a:p>
            <a:pPr marL="285750" lvl="0" indent="-285750">
              <a:buFont typeface="Courier New" panose="02070309020205020404" pitchFamily="49" charset="0"/>
              <a:buChar char="o"/>
            </a:pPr>
            <a:r>
              <a:rPr lang="en-IN" sz="1600" b="1" dirty="0"/>
              <a:t>Secure sensitive files</a:t>
            </a:r>
            <a:r>
              <a:rPr lang="en-IN" sz="1600" dirty="0"/>
              <a:t> from unauthorized access. </a:t>
            </a:r>
          </a:p>
          <a:p>
            <a:pPr marL="285750" lvl="0" indent="-285750">
              <a:buFont typeface="Courier New" panose="02070309020205020404" pitchFamily="49" charset="0"/>
              <a:buChar char="o"/>
            </a:pPr>
            <a:r>
              <a:rPr lang="en-IN" sz="1600" dirty="0"/>
              <a:t> </a:t>
            </a:r>
            <a:r>
              <a:rPr lang="en-IN" sz="1600" b="1" dirty="0"/>
              <a:t>Encrypt files</a:t>
            </a:r>
            <a:r>
              <a:rPr lang="en-IN" sz="1600" dirty="0"/>
              <a:t> using a secret key. </a:t>
            </a:r>
          </a:p>
          <a:p>
            <a:pPr marL="285750" lvl="0" indent="-285750">
              <a:buFont typeface="Courier New" panose="02070309020205020404" pitchFamily="49" charset="0"/>
              <a:buChar char="o"/>
            </a:pPr>
            <a:r>
              <a:rPr lang="en-IN" sz="1600" dirty="0"/>
              <a:t> </a:t>
            </a:r>
            <a:r>
              <a:rPr lang="en-IN" sz="1600" b="1" dirty="0"/>
              <a:t>Decrypt files</a:t>
            </a:r>
            <a:r>
              <a:rPr lang="en-IN" sz="1600" dirty="0"/>
              <a:t> using the correct key. </a:t>
            </a:r>
          </a:p>
          <a:p>
            <a:pPr marL="285750" lvl="0" indent="-285750">
              <a:buFont typeface="Courier New" panose="02070309020205020404" pitchFamily="49" charset="0"/>
              <a:buChar char="o"/>
            </a:pPr>
            <a:r>
              <a:rPr lang="en-IN" sz="1600" dirty="0"/>
              <a:t> </a:t>
            </a:r>
            <a:r>
              <a:rPr lang="en-IN" sz="1600" b="1" dirty="0"/>
              <a:t>Maintain data privacy and security.</a:t>
            </a:r>
            <a:r>
              <a:rPr lang="en-IN" sz="1600" dirty="0"/>
              <a:t> </a:t>
            </a:r>
          </a:p>
          <a:p>
            <a:pPr marL="285750" lvl="0" indent="-285750">
              <a:buFont typeface="Courier New" panose="02070309020205020404" pitchFamily="49" charset="0"/>
              <a:buChar char="o"/>
            </a:pPr>
            <a:r>
              <a:rPr lang="en-IN" sz="1600" dirty="0"/>
              <a:t> </a:t>
            </a:r>
            <a:r>
              <a:rPr lang="en-IN" sz="1600" b="1" dirty="0"/>
              <a:t>Preserve the original file content</a:t>
            </a:r>
            <a:r>
              <a:rPr lang="en-IN" sz="1600" dirty="0"/>
              <a:t> after decryption. </a:t>
            </a:r>
          </a:p>
          <a:p>
            <a:pPr marL="285750" lvl="0" indent="-285750">
              <a:buFont typeface="Courier New" panose="02070309020205020404" pitchFamily="49" charset="0"/>
              <a:buChar char="o"/>
            </a:pPr>
            <a:r>
              <a:rPr lang="en-IN" sz="1600" dirty="0"/>
              <a:t> </a:t>
            </a:r>
            <a:r>
              <a:rPr lang="en-IN" sz="1600" b="1" dirty="0"/>
              <a:t>Provide a simple and easy-to-use application</a:t>
            </a:r>
            <a:r>
              <a:rPr lang="en-IN" sz="1600" dirty="0"/>
              <a:t> for users.</a:t>
            </a:r>
          </a:p>
          <a:p>
            <a:pPr marL="285750" lvl="0" indent="-285750">
              <a:buFont typeface="Courier New" panose="02070309020205020404" pitchFamily="49" charset="0"/>
              <a:buChar char="o"/>
            </a:pPr>
            <a:r>
              <a:rPr lang="en-IN" sz="1600" dirty="0"/>
              <a:t>To </a:t>
            </a:r>
            <a:r>
              <a:rPr lang="en-IN" sz="1600" b="1" dirty="0"/>
              <a:t>secure sensitive files</a:t>
            </a:r>
            <a:r>
              <a:rPr lang="en-IN" sz="1600" dirty="0"/>
              <a:t> from unauthorized access using encryption. </a:t>
            </a:r>
          </a:p>
          <a:p>
            <a:pPr marL="285750" lvl="0" indent="-285750">
              <a:buFont typeface="Courier New" panose="02070309020205020404" pitchFamily="49" charset="0"/>
              <a:buChar char="o"/>
            </a:pPr>
            <a:r>
              <a:rPr lang="en-IN" sz="1600" dirty="0"/>
              <a:t>To </a:t>
            </a:r>
            <a:r>
              <a:rPr lang="en-IN" sz="1600" b="1" dirty="0"/>
              <a:t>encrypt and decrypt files</a:t>
            </a:r>
            <a:r>
              <a:rPr lang="en-IN" sz="1600" dirty="0"/>
              <a:t> using a secret key while maintaining the original data. </a:t>
            </a:r>
          </a:p>
          <a:p>
            <a:pPr marL="285750" lvl="0" indent="-285750">
              <a:buFont typeface="Courier New" panose="02070309020205020404" pitchFamily="49" charset="0"/>
              <a:buChar char="o"/>
            </a:pPr>
            <a:r>
              <a:rPr lang="en-IN" sz="1600" dirty="0"/>
              <a:t>To demonstrate the practical use of </a:t>
            </a:r>
            <a:r>
              <a:rPr lang="en-IN" sz="1600" b="1" dirty="0"/>
              <a:t>Python and cryptography</a:t>
            </a:r>
            <a:r>
              <a:rPr lang="en-IN" sz="1600" dirty="0"/>
              <a:t> for data security.</a:t>
            </a:r>
          </a:p>
          <a:p>
            <a:pPr marL="285750" lvl="0" indent="-285750">
              <a:buFont typeface="Courier New" panose="02070309020205020404" pitchFamily="49" charset="0"/>
              <a:buChar char="o"/>
            </a:pPr>
            <a:endParaRPr lang="en-IN" sz="1600" dirty="0"/>
          </a:p>
          <a:p>
            <a:pPr marL="12700">
              <a:spcBef>
                <a:spcPts val="100"/>
              </a:spcBef>
              <a:tabLst>
                <a:tab pos="263525" algn="l"/>
              </a:tabLst>
            </a:pPr>
            <a:endParaRPr lang="en-IN" sz="1600" dirty="0"/>
          </a:p>
          <a:p>
            <a:pPr marL="263525" indent="-250825">
              <a:spcBef>
                <a:spcPts val="100"/>
              </a:spcBef>
              <a:buFont typeface="Arial MT"/>
              <a:buChar char="•"/>
              <a:tabLst>
                <a:tab pos="263525" algn="l"/>
              </a:tabLst>
            </a:pPr>
            <a:endParaRPr lang="en-IN" sz="1600" dirty="0"/>
          </a:p>
          <a:p>
            <a:pPr marL="263525" indent="-250825">
              <a:spcBef>
                <a:spcPts val="100"/>
              </a:spcBef>
              <a:buFont typeface="Arial MT"/>
              <a:buChar char="•"/>
              <a:tabLst>
                <a:tab pos="263525" algn="l"/>
              </a:tabLst>
            </a:pPr>
            <a:endParaRPr lang="en-IN" sz="1600" dirty="0"/>
          </a:p>
        </p:txBody>
      </p:sp>
      <p:sp>
        <p:nvSpPr>
          <p:cNvPr id="4" name="object 4">
            <a:extLst>
              <a:ext uri="{FF2B5EF4-FFF2-40B4-BE49-F238E27FC236}">
                <a16:creationId xmlns:a16="http://schemas.microsoft.com/office/drawing/2014/main" id="{747C8B87-A599-465F-DD87-1637B2BC39B5}"/>
              </a:ext>
            </a:extLst>
          </p:cNvPr>
          <p:cNvSpPr txBox="1"/>
          <p:nvPr/>
        </p:nvSpPr>
        <p:spPr>
          <a:xfrm>
            <a:off x="382270" y="6432673"/>
            <a:ext cx="3479165" cy="459740"/>
          </a:xfrm>
          <a:prstGeom prst="rect">
            <a:avLst/>
          </a:prstGeom>
        </p:spPr>
        <p:txBody>
          <a:bodyPr vert="horz" wrap="square" lIns="0" tIns="12700" rIns="0" bIns="0" rtlCol="0">
            <a:spAutoFit/>
          </a:bodyPr>
          <a:lstStyle/>
          <a:p>
            <a:pPr marL="12700" marR="5080">
              <a:lnSpc>
                <a:spcPct val="118800"/>
              </a:lnSpc>
              <a:spcBef>
                <a:spcPts val="100"/>
              </a:spcBef>
            </a:pPr>
            <a:r>
              <a:rPr sz="1200" dirty="0">
                <a:solidFill>
                  <a:srgbClr val="FFFFFF"/>
                </a:solidFill>
                <a:latin typeface="Arial MT"/>
                <a:cs typeface="Arial MT"/>
              </a:rPr>
              <a:t>S.</a:t>
            </a:r>
            <a:r>
              <a:rPr sz="1200" spc="-25" dirty="0">
                <a:solidFill>
                  <a:srgbClr val="FFFFFF"/>
                </a:solidFill>
                <a:latin typeface="Arial MT"/>
                <a:cs typeface="Arial MT"/>
              </a:rPr>
              <a:t> </a:t>
            </a:r>
            <a:r>
              <a:rPr sz="1200" dirty="0">
                <a:solidFill>
                  <a:srgbClr val="FFFFFF"/>
                </a:solidFill>
                <a:latin typeface="Arial MT"/>
                <a:cs typeface="Arial MT"/>
              </a:rPr>
              <a:t>B.</a:t>
            </a:r>
            <a:r>
              <a:rPr sz="1200" spc="-25" dirty="0">
                <a:solidFill>
                  <a:srgbClr val="FFFFFF"/>
                </a:solidFill>
                <a:latin typeface="Arial MT"/>
                <a:cs typeface="Arial MT"/>
              </a:rPr>
              <a:t> </a:t>
            </a:r>
            <a:r>
              <a:rPr sz="1200" dirty="0">
                <a:solidFill>
                  <a:srgbClr val="FFFFFF"/>
                </a:solidFill>
                <a:latin typeface="Arial MT"/>
                <a:cs typeface="Arial MT"/>
              </a:rPr>
              <a:t>Jain</a:t>
            </a:r>
            <a:r>
              <a:rPr sz="1200" spc="-25" dirty="0">
                <a:solidFill>
                  <a:srgbClr val="FFFFFF"/>
                </a:solidFill>
                <a:latin typeface="Arial MT"/>
                <a:cs typeface="Arial MT"/>
              </a:rPr>
              <a:t> </a:t>
            </a:r>
            <a:r>
              <a:rPr sz="1200" dirty="0">
                <a:solidFill>
                  <a:srgbClr val="FFFFFF"/>
                </a:solidFill>
                <a:latin typeface="Arial MT"/>
                <a:cs typeface="Arial MT"/>
              </a:rPr>
              <a:t>Institute</a:t>
            </a:r>
            <a:r>
              <a:rPr sz="1200" spc="-25" dirty="0">
                <a:solidFill>
                  <a:srgbClr val="FFFFFF"/>
                </a:solidFill>
                <a:latin typeface="Arial MT"/>
                <a:cs typeface="Arial MT"/>
              </a:rPr>
              <a:t> </a:t>
            </a:r>
            <a:r>
              <a:rPr sz="1200" dirty="0">
                <a:solidFill>
                  <a:srgbClr val="FFFFFF"/>
                </a:solidFill>
                <a:latin typeface="Arial MT"/>
                <a:cs typeface="Arial MT"/>
              </a:rPr>
              <a:t>of</a:t>
            </a:r>
            <a:r>
              <a:rPr sz="1200" spc="-25" dirty="0">
                <a:solidFill>
                  <a:srgbClr val="FFFFFF"/>
                </a:solidFill>
                <a:latin typeface="Arial MT"/>
                <a:cs typeface="Arial MT"/>
              </a:rPr>
              <a:t> </a:t>
            </a:r>
            <a:r>
              <a:rPr sz="1200" dirty="0">
                <a:solidFill>
                  <a:srgbClr val="FFFFFF"/>
                </a:solidFill>
                <a:latin typeface="Arial MT"/>
                <a:cs typeface="Arial MT"/>
              </a:rPr>
              <a:t>Technology</a:t>
            </a:r>
            <a:r>
              <a:rPr sz="1200" spc="-25" dirty="0">
                <a:solidFill>
                  <a:srgbClr val="FFFFFF"/>
                </a:solidFill>
                <a:latin typeface="Arial MT"/>
                <a:cs typeface="Arial MT"/>
              </a:rPr>
              <a:t> </a:t>
            </a:r>
            <a:r>
              <a:rPr sz="1200" dirty="0">
                <a:solidFill>
                  <a:srgbClr val="FFFFFF"/>
                </a:solidFill>
                <a:latin typeface="Arial MT"/>
                <a:cs typeface="Arial MT"/>
              </a:rPr>
              <a:t>Management</a:t>
            </a:r>
            <a:r>
              <a:rPr sz="1200" spc="-25" dirty="0">
                <a:solidFill>
                  <a:srgbClr val="FFFFFF"/>
                </a:solidFill>
                <a:latin typeface="Arial MT"/>
                <a:cs typeface="Arial MT"/>
              </a:rPr>
              <a:t> and </a:t>
            </a:r>
            <a:r>
              <a:rPr sz="1200" spc="-10" dirty="0">
                <a:solidFill>
                  <a:srgbClr val="FFFFFF"/>
                </a:solidFill>
                <a:latin typeface="Arial MT"/>
                <a:cs typeface="Arial MT"/>
              </a:rPr>
              <a:t>research</a:t>
            </a:r>
            <a:endParaRPr sz="1200" dirty="0">
              <a:latin typeface="Arial MT"/>
              <a:cs typeface="Arial MT"/>
            </a:endParaRPr>
          </a:p>
        </p:txBody>
      </p:sp>
    </p:spTree>
    <p:extLst>
      <p:ext uri="{BB962C8B-B14F-4D97-AF65-F5344CB8AC3E}">
        <p14:creationId xmlns:p14="http://schemas.microsoft.com/office/powerpoint/2010/main" val="3382089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C8B57FB-6CDA-C79C-1BC7-7FAB297CB46C}"/>
              </a:ext>
            </a:extLst>
          </p:cNvPr>
          <p:cNvSpPr>
            <a:spLocks noGrp="1"/>
          </p:cNvSpPr>
          <p:nvPr>
            <p:ph type="body" idx="1"/>
          </p:nvPr>
        </p:nvSpPr>
        <p:spPr>
          <a:xfrm>
            <a:off x="762000" y="685800"/>
            <a:ext cx="8229600" cy="276999"/>
          </a:xfrm>
        </p:spPr>
        <p:txBody>
          <a:bodyPr/>
          <a:lstStyle/>
          <a:p>
            <a:pPr marL="285750" indent="-285750">
              <a:buFont typeface="Arial" panose="020B0604020202020204" pitchFamily="34" charset="0"/>
              <a:buChar char="•"/>
            </a:pPr>
            <a:r>
              <a:rPr lang="en-IN" spc="-10" dirty="0">
                <a:solidFill>
                  <a:schemeClr val="accent1"/>
                </a:solidFill>
                <a:cs typeface="Calibri"/>
              </a:rPr>
              <a:t>Algorithm :</a:t>
            </a:r>
          </a:p>
        </p:txBody>
      </p:sp>
      <p:sp>
        <p:nvSpPr>
          <p:cNvPr id="5" name="TextBox 4">
            <a:extLst>
              <a:ext uri="{FF2B5EF4-FFF2-40B4-BE49-F238E27FC236}">
                <a16:creationId xmlns:a16="http://schemas.microsoft.com/office/drawing/2014/main" id="{460D36B7-FBC8-3DBA-8AE2-05BEE70FF8A4}"/>
              </a:ext>
            </a:extLst>
          </p:cNvPr>
          <p:cNvSpPr txBox="1"/>
          <p:nvPr/>
        </p:nvSpPr>
        <p:spPr>
          <a:xfrm>
            <a:off x="304800" y="1066800"/>
            <a:ext cx="8001000" cy="2308324"/>
          </a:xfrm>
          <a:prstGeom prst="rect">
            <a:avLst/>
          </a:prstGeom>
          <a:noFill/>
        </p:spPr>
        <p:txBody>
          <a:bodyPr wrap="square">
            <a:spAutoFit/>
          </a:bodyPr>
          <a:lstStyle/>
          <a:p>
            <a:pPr marL="400050" lvl="0" indent="-400050">
              <a:buFont typeface="+mj-lt"/>
              <a:buAutoNum type="romanLcPeriod"/>
            </a:pPr>
            <a:r>
              <a:rPr lang="en-IN" dirty="0"/>
              <a:t>Start the program and display the main menu. </a:t>
            </a:r>
          </a:p>
          <a:p>
            <a:pPr marL="400050" lvl="0" indent="-400050">
              <a:buFont typeface="+mj-lt"/>
              <a:buAutoNum type="romanLcPeriod"/>
            </a:pPr>
            <a:r>
              <a:rPr lang="en-IN" dirty="0"/>
              <a:t>Allow the user to select </a:t>
            </a:r>
            <a:r>
              <a:rPr lang="en-IN" b="1" dirty="0"/>
              <a:t>Encryption</a:t>
            </a:r>
            <a:r>
              <a:rPr lang="en-IN" dirty="0"/>
              <a:t> or </a:t>
            </a:r>
            <a:r>
              <a:rPr lang="en-IN" b="1" dirty="0"/>
              <a:t>Decryption</a:t>
            </a:r>
            <a:r>
              <a:rPr lang="en-IN" dirty="0"/>
              <a:t>.</a:t>
            </a:r>
          </a:p>
          <a:p>
            <a:pPr marL="400050" lvl="0" indent="-400050">
              <a:buFont typeface="+mj-lt"/>
              <a:buAutoNum type="romanLcPeriod"/>
            </a:pPr>
            <a:r>
              <a:rPr lang="en-IN" dirty="0"/>
              <a:t>Ask the user to </a:t>
            </a:r>
            <a:r>
              <a:rPr lang="en-IN" b="1" dirty="0"/>
              <a:t>select the input file</a:t>
            </a:r>
            <a:r>
              <a:rPr lang="en-IN" dirty="0"/>
              <a:t> and enter/provide the secret key. </a:t>
            </a:r>
          </a:p>
          <a:p>
            <a:pPr marL="400050" lvl="0" indent="-400050">
              <a:buFont typeface="+mj-lt"/>
              <a:buAutoNum type="romanLcPeriod"/>
            </a:pPr>
            <a:r>
              <a:rPr lang="en-IN" dirty="0"/>
              <a:t>For </a:t>
            </a:r>
            <a:r>
              <a:rPr lang="en-IN" b="1" dirty="0"/>
              <a:t>encryption</a:t>
            </a:r>
            <a:r>
              <a:rPr lang="en-IN" dirty="0"/>
              <a:t>, read the file data, apply the encryption algorithm using the key, and save the encrypted data as a new file. </a:t>
            </a:r>
          </a:p>
          <a:p>
            <a:pPr marL="400050" lvl="0" indent="-400050">
              <a:buFont typeface="+mj-lt"/>
              <a:buAutoNum type="romanLcPeriod"/>
            </a:pPr>
            <a:r>
              <a:rPr lang="en-IN" dirty="0"/>
              <a:t>For </a:t>
            </a:r>
            <a:r>
              <a:rPr lang="en-IN" b="1" dirty="0"/>
              <a:t>decryption</a:t>
            </a:r>
            <a:r>
              <a:rPr lang="en-IN" dirty="0"/>
              <a:t>, read the encrypted file and use the correct key to restore the original data. </a:t>
            </a:r>
          </a:p>
          <a:p>
            <a:pPr marL="400050" lvl="0" indent="-400050">
              <a:buFont typeface="+mj-lt"/>
              <a:buAutoNum type="romanLcPeriod"/>
            </a:pPr>
            <a:r>
              <a:rPr lang="en-IN" dirty="0"/>
              <a:t>Display a </a:t>
            </a:r>
            <a:r>
              <a:rPr lang="en-IN" b="1" dirty="0"/>
              <a:t>success or error message</a:t>
            </a:r>
            <a:r>
              <a:rPr lang="en-IN" dirty="0"/>
              <a:t> and end the program.</a:t>
            </a:r>
          </a:p>
        </p:txBody>
      </p:sp>
      <p:sp>
        <p:nvSpPr>
          <p:cNvPr id="9" name="TextBox 8">
            <a:extLst>
              <a:ext uri="{FF2B5EF4-FFF2-40B4-BE49-F238E27FC236}">
                <a16:creationId xmlns:a16="http://schemas.microsoft.com/office/drawing/2014/main" id="{25E3F5BA-7E70-C4F6-60F7-DB5765BD4765}"/>
              </a:ext>
            </a:extLst>
          </p:cNvPr>
          <p:cNvSpPr txBox="1"/>
          <p:nvPr/>
        </p:nvSpPr>
        <p:spPr>
          <a:xfrm>
            <a:off x="228600" y="6400800"/>
            <a:ext cx="4572000" cy="276999"/>
          </a:xfrm>
          <a:prstGeom prst="rect">
            <a:avLst/>
          </a:prstGeom>
          <a:noFill/>
        </p:spPr>
        <p:txBody>
          <a:bodyPr wrap="square">
            <a:spAutoFit/>
          </a:bodyPr>
          <a:lstStyle/>
          <a:p>
            <a:r>
              <a:rPr lang="en-US" sz="1200" dirty="0">
                <a:solidFill>
                  <a:srgbClr val="FFFFFF"/>
                </a:solidFill>
                <a:latin typeface="Arial MT"/>
                <a:cs typeface="Arial MT"/>
              </a:rPr>
              <a:t>S.</a:t>
            </a:r>
            <a:r>
              <a:rPr lang="en-US" sz="1200" spc="-25" dirty="0">
                <a:solidFill>
                  <a:srgbClr val="FFFFFF"/>
                </a:solidFill>
                <a:latin typeface="Arial MT"/>
                <a:cs typeface="Arial MT"/>
              </a:rPr>
              <a:t> </a:t>
            </a:r>
            <a:r>
              <a:rPr lang="en-US" sz="1200" dirty="0">
                <a:solidFill>
                  <a:srgbClr val="FFFFFF"/>
                </a:solidFill>
                <a:latin typeface="Arial MT"/>
                <a:cs typeface="Arial MT"/>
              </a:rPr>
              <a:t>B.</a:t>
            </a:r>
            <a:r>
              <a:rPr lang="en-US" sz="1200" spc="-25" dirty="0">
                <a:solidFill>
                  <a:srgbClr val="FFFFFF"/>
                </a:solidFill>
                <a:latin typeface="Arial MT"/>
                <a:cs typeface="Arial MT"/>
              </a:rPr>
              <a:t> </a:t>
            </a:r>
            <a:r>
              <a:rPr lang="en-US" sz="1200" dirty="0">
                <a:solidFill>
                  <a:srgbClr val="FFFFFF"/>
                </a:solidFill>
                <a:latin typeface="Arial MT"/>
                <a:cs typeface="Arial MT"/>
              </a:rPr>
              <a:t>Jain</a:t>
            </a:r>
            <a:r>
              <a:rPr lang="en-US" sz="1200" spc="-25" dirty="0">
                <a:solidFill>
                  <a:srgbClr val="FFFFFF"/>
                </a:solidFill>
                <a:latin typeface="Arial MT"/>
                <a:cs typeface="Arial MT"/>
              </a:rPr>
              <a:t> </a:t>
            </a:r>
            <a:r>
              <a:rPr lang="en-US" sz="1200" dirty="0">
                <a:solidFill>
                  <a:srgbClr val="FFFFFF"/>
                </a:solidFill>
                <a:latin typeface="Arial MT"/>
                <a:cs typeface="Arial MT"/>
              </a:rPr>
              <a:t>Institute</a:t>
            </a:r>
            <a:r>
              <a:rPr lang="en-US" sz="1200" spc="-25" dirty="0">
                <a:solidFill>
                  <a:srgbClr val="FFFFFF"/>
                </a:solidFill>
                <a:latin typeface="Arial MT"/>
                <a:cs typeface="Arial MT"/>
              </a:rPr>
              <a:t> </a:t>
            </a:r>
            <a:r>
              <a:rPr lang="en-US" sz="1200" dirty="0">
                <a:solidFill>
                  <a:srgbClr val="FFFFFF"/>
                </a:solidFill>
                <a:latin typeface="Arial MT"/>
                <a:cs typeface="Arial MT"/>
              </a:rPr>
              <a:t>of</a:t>
            </a:r>
            <a:r>
              <a:rPr lang="en-US" sz="1200" spc="-25" dirty="0">
                <a:solidFill>
                  <a:srgbClr val="FFFFFF"/>
                </a:solidFill>
                <a:latin typeface="Arial MT"/>
                <a:cs typeface="Arial MT"/>
              </a:rPr>
              <a:t> </a:t>
            </a:r>
            <a:r>
              <a:rPr lang="en-US" sz="1200" dirty="0">
                <a:solidFill>
                  <a:srgbClr val="FFFFFF"/>
                </a:solidFill>
                <a:latin typeface="Arial MT"/>
                <a:cs typeface="Arial MT"/>
              </a:rPr>
              <a:t>Technology</a:t>
            </a:r>
            <a:r>
              <a:rPr lang="en-US" sz="1200" spc="-25" dirty="0">
                <a:solidFill>
                  <a:srgbClr val="FFFFFF"/>
                </a:solidFill>
                <a:latin typeface="Arial MT"/>
                <a:cs typeface="Arial MT"/>
              </a:rPr>
              <a:t> </a:t>
            </a:r>
            <a:r>
              <a:rPr lang="en-US" sz="1200" dirty="0">
                <a:solidFill>
                  <a:srgbClr val="FFFFFF"/>
                </a:solidFill>
                <a:latin typeface="Arial MT"/>
                <a:cs typeface="Arial MT"/>
              </a:rPr>
              <a:t>Management</a:t>
            </a:r>
            <a:r>
              <a:rPr lang="en-US" sz="1200" spc="-25" dirty="0">
                <a:solidFill>
                  <a:srgbClr val="FFFFFF"/>
                </a:solidFill>
                <a:latin typeface="Arial MT"/>
                <a:cs typeface="Arial MT"/>
              </a:rPr>
              <a:t> and </a:t>
            </a:r>
            <a:endParaRPr lang="en-IN" dirty="0"/>
          </a:p>
        </p:txBody>
      </p:sp>
    </p:spTree>
    <p:extLst>
      <p:ext uri="{BB962C8B-B14F-4D97-AF65-F5344CB8AC3E}">
        <p14:creationId xmlns:p14="http://schemas.microsoft.com/office/powerpoint/2010/main" val="3152749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21CB-B99E-4650-392A-5E188F8CFB02}"/>
              </a:ext>
            </a:extLst>
          </p:cNvPr>
          <p:cNvSpPr>
            <a:spLocks noGrp="1"/>
          </p:cNvSpPr>
          <p:nvPr>
            <p:ph type="title"/>
          </p:nvPr>
        </p:nvSpPr>
        <p:spPr/>
        <p:txBody>
          <a:bodyPr/>
          <a:lstStyle/>
          <a:p>
            <a:r>
              <a:rPr lang="en-US" dirty="0"/>
              <a:t> </a:t>
            </a:r>
            <a:endParaRPr lang="en-IN" dirty="0"/>
          </a:p>
        </p:txBody>
      </p:sp>
      <p:pic>
        <p:nvPicPr>
          <p:cNvPr id="7" name="Picture 6">
            <a:extLst>
              <a:ext uri="{FF2B5EF4-FFF2-40B4-BE49-F238E27FC236}">
                <a16:creationId xmlns:a16="http://schemas.microsoft.com/office/drawing/2014/main" id="{650A87C7-2D98-C07F-5F97-6AA3BF1B28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248400"/>
          </a:xfrm>
          <a:prstGeom prst="rect">
            <a:avLst/>
          </a:prstGeom>
        </p:spPr>
      </p:pic>
      <p:sp>
        <p:nvSpPr>
          <p:cNvPr id="9" name="TextBox 8">
            <a:extLst>
              <a:ext uri="{FF2B5EF4-FFF2-40B4-BE49-F238E27FC236}">
                <a16:creationId xmlns:a16="http://schemas.microsoft.com/office/drawing/2014/main" id="{FBED030B-7B1B-8DC5-3990-E3F4202A9E9E}"/>
              </a:ext>
            </a:extLst>
          </p:cNvPr>
          <p:cNvSpPr txBox="1"/>
          <p:nvPr/>
        </p:nvSpPr>
        <p:spPr>
          <a:xfrm>
            <a:off x="45828" y="180842"/>
            <a:ext cx="3535572" cy="369332"/>
          </a:xfrm>
          <a:prstGeom prst="rect">
            <a:avLst/>
          </a:prstGeom>
          <a:noFill/>
        </p:spPr>
        <p:txBody>
          <a:bodyPr wrap="square">
            <a:spAutoFit/>
          </a:bodyPr>
          <a:lstStyle/>
          <a:p>
            <a:pPr marL="285750" indent="-285750">
              <a:buFont typeface="Arial" panose="020B0604020202020204" pitchFamily="34" charset="0"/>
              <a:buChar char="•"/>
            </a:pPr>
            <a:r>
              <a:rPr lang="en-IN" spc="-10" dirty="0">
                <a:solidFill>
                  <a:schemeClr val="accent1"/>
                </a:solidFill>
                <a:latin typeface="Calibri"/>
                <a:cs typeface="Calibri"/>
              </a:rPr>
              <a:t>:</a:t>
            </a:r>
            <a:endParaRPr lang="en-IN" dirty="0">
              <a:solidFill>
                <a:schemeClr val="accent1"/>
              </a:solidFill>
            </a:endParaRPr>
          </a:p>
        </p:txBody>
      </p:sp>
      <p:sp>
        <p:nvSpPr>
          <p:cNvPr id="11" name="TextBox 10">
            <a:extLst>
              <a:ext uri="{FF2B5EF4-FFF2-40B4-BE49-F238E27FC236}">
                <a16:creationId xmlns:a16="http://schemas.microsoft.com/office/drawing/2014/main" id="{EF48A602-4307-D77E-85B5-30B1989FB905}"/>
              </a:ext>
            </a:extLst>
          </p:cNvPr>
          <p:cNvSpPr txBox="1"/>
          <p:nvPr/>
        </p:nvSpPr>
        <p:spPr>
          <a:xfrm>
            <a:off x="152400" y="6441532"/>
            <a:ext cx="4572000" cy="276999"/>
          </a:xfrm>
          <a:prstGeom prst="rect">
            <a:avLst/>
          </a:prstGeom>
          <a:noFill/>
        </p:spPr>
        <p:txBody>
          <a:bodyPr wrap="square">
            <a:spAutoFit/>
          </a:bodyPr>
          <a:lstStyle/>
          <a:p>
            <a:r>
              <a:rPr lang="en-US" sz="1200" dirty="0">
                <a:solidFill>
                  <a:srgbClr val="FFFFFF"/>
                </a:solidFill>
                <a:latin typeface="Arial MT"/>
                <a:cs typeface="Arial MT"/>
              </a:rPr>
              <a:t>S.</a:t>
            </a:r>
            <a:r>
              <a:rPr lang="en-US" sz="1200" spc="-25" dirty="0">
                <a:solidFill>
                  <a:srgbClr val="FFFFFF"/>
                </a:solidFill>
                <a:latin typeface="Arial MT"/>
                <a:cs typeface="Arial MT"/>
              </a:rPr>
              <a:t> </a:t>
            </a:r>
            <a:r>
              <a:rPr lang="en-US" sz="1200" dirty="0">
                <a:solidFill>
                  <a:srgbClr val="FFFFFF"/>
                </a:solidFill>
                <a:latin typeface="Arial MT"/>
                <a:cs typeface="Arial MT"/>
              </a:rPr>
              <a:t>B.</a:t>
            </a:r>
            <a:r>
              <a:rPr lang="en-US" sz="1200" spc="-25" dirty="0">
                <a:solidFill>
                  <a:srgbClr val="FFFFFF"/>
                </a:solidFill>
                <a:latin typeface="Arial MT"/>
                <a:cs typeface="Arial MT"/>
              </a:rPr>
              <a:t> </a:t>
            </a:r>
            <a:r>
              <a:rPr lang="en-US" sz="1200" dirty="0">
                <a:solidFill>
                  <a:srgbClr val="FFFFFF"/>
                </a:solidFill>
                <a:latin typeface="Arial MT"/>
                <a:cs typeface="Arial MT"/>
              </a:rPr>
              <a:t>Jain</a:t>
            </a:r>
            <a:r>
              <a:rPr lang="en-US" sz="1200" spc="-25" dirty="0">
                <a:solidFill>
                  <a:srgbClr val="FFFFFF"/>
                </a:solidFill>
                <a:latin typeface="Arial MT"/>
                <a:cs typeface="Arial MT"/>
              </a:rPr>
              <a:t> </a:t>
            </a:r>
            <a:r>
              <a:rPr lang="en-US" sz="1200" dirty="0">
                <a:solidFill>
                  <a:srgbClr val="FFFFFF"/>
                </a:solidFill>
                <a:latin typeface="Arial MT"/>
                <a:cs typeface="Arial MT"/>
              </a:rPr>
              <a:t>Institute</a:t>
            </a:r>
            <a:r>
              <a:rPr lang="en-US" sz="1200" spc="-25" dirty="0">
                <a:solidFill>
                  <a:srgbClr val="FFFFFF"/>
                </a:solidFill>
                <a:latin typeface="Arial MT"/>
                <a:cs typeface="Arial MT"/>
              </a:rPr>
              <a:t> </a:t>
            </a:r>
            <a:r>
              <a:rPr lang="en-US" sz="1200" dirty="0">
                <a:solidFill>
                  <a:srgbClr val="FFFFFF"/>
                </a:solidFill>
                <a:latin typeface="Arial MT"/>
                <a:cs typeface="Arial MT"/>
              </a:rPr>
              <a:t>of</a:t>
            </a:r>
            <a:r>
              <a:rPr lang="en-US" sz="1200" spc="-25" dirty="0">
                <a:solidFill>
                  <a:srgbClr val="FFFFFF"/>
                </a:solidFill>
                <a:latin typeface="Arial MT"/>
                <a:cs typeface="Arial MT"/>
              </a:rPr>
              <a:t> </a:t>
            </a:r>
            <a:r>
              <a:rPr lang="en-US" sz="1200" dirty="0">
                <a:solidFill>
                  <a:srgbClr val="FFFFFF"/>
                </a:solidFill>
                <a:latin typeface="Arial MT"/>
                <a:cs typeface="Arial MT"/>
              </a:rPr>
              <a:t>Technology</a:t>
            </a:r>
            <a:r>
              <a:rPr lang="en-US" sz="1200" spc="-25" dirty="0">
                <a:solidFill>
                  <a:srgbClr val="FFFFFF"/>
                </a:solidFill>
                <a:latin typeface="Arial MT"/>
                <a:cs typeface="Arial MT"/>
              </a:rPr>
              <a:t> </a:t>
            </a:r>
            <a:r>
              <a:rPr lang="en-US" sz="1200" dirty="0">
                <a:solidFill>
                  <a:srgbClr val="FFFFFF"/>
                </a:solidFill>
                <a:latin typeface="Arial MT"/>
                <a:cs typeface="Arial MT"/>
              </a:rPr>
              <a:t>Management</a:t>
            </a:r>
            <a:r>
              <a:rPr lang="en-US" sz="1200" spc="-25" dirty="0">
                <a:solidFill>
                  <a:srgbClr val="FFFFFF"/>
                </a:solidFill>
                <a:latin typeface="Arial MT"/>
                <a:cs typeface="Arial MT"/>
              </a:rPr>
              <a:t> and </a:t>
            </a:r>
            <a:endParaRPr lang="en-IN" dirty="0"/>
          </a:p>
        </p:txBody>
      </p:sp>
      <p:pic>
        <p:nvPicPr>
          <p:cNvPr id="13" name="Picture 12">
            <a:extLst>
              <a:ext uri="{FF2B5EF4-FFF2-40B4-BE49-F238E27FC236}">
                <a16:creationId xmlns:a16="http://schemas.microsoft.com/office/drawing/2014/main" id="{1843CA2E-7E49-AB13-4B69-C8BD2131D7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441532"/>
          </a:xfrm>
          <a:prstGeom prst="rect">
            <a:avLst/>
          </a:prstGeom>
        </p:spPr>
      </p:pic>
      <p:sp>
        <p:nvSpPr>
          <p:cNvPr id="15" name="TextBox 14">
            <a:extLst>
              <a:ext uri="{FF2B5EF4-FFF2-40B4-BE49-F238E27FC236}">
                <a16:creationId xmlns:a16="http://schemas.microsoft.com/office/drawing/2014/main" id="{644DD828-3B1F-ED9D-87E3-0DFAB3D2F280}"/>
              </a:ext>
            </a:extLst>
          </p:cNvPr>
          <p:cNvSpPr txBox="1"/>
          <p:nvPr/>
        </p:nvSpPr>
        <p:spPr>
          <a:xfrm>
            <a:off x="45828" y="215687"/>
            <a:ext cx="4830972" cy="369332"/>
          </a:xfrm>
          <a:prstGeom prst="rect">
            <a:avLst/>
          </a:prstGeom>
          <a:noFill/>
        </p:spPr>
        <p:txBody>
          <a:bodyPr wrap="square">
            <a:spAutoFit/>
          </a:bodyPr>
          <a:lstStyle/>
          <a:p>
            <a:pPr marL="285750" indent="-285750">
              <a:buFont typeface="Arial" panose="020B0604020202020204" pitchFamily="34" charset="0"/>
              <a:buChar char="•"/>
            </a:pPr>
            <a:r>
              <a:rPr lang="en-IN" spc="-10" dirty="0">
                <a:solidFill>
                  <a:schemeClr val="accent1"/>
                </a:solidFill>
                <a:latin typeface="Calibri"/>
                <a:cs typeface="Calibri"/>
              </a:rPr>
              <a:t>Flowchart/pseudocode : </a:t>
            </a:r>
            <a:endParaRPr lang="en-IN" dirty="0"/>
          </a:p>
        </p:txBody>
      </p:sp>
    </p:spTree>
    <p:extLst>
      <p:ext uri="{BB962C8B-B14F-4D97-AF65-F5344CB8AC3E}">
        <p14:creationId xmlns:p14="http://schemas.microsoft.com/office/powerpoint/2010/main" val="1412169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FB430-8A8F-8881-A620-824589E1F1D2}"/>
              </a:ext>
            </a:extLst>
          </p:cNvPr>
          <p:cNvSpPr>
            <a:spLocks noGrp="1"/>
          </p:cNvSpPr>
          <p:nvPr>
            <p:ph type="body" idx="1"/>
          </p:nvPr>
        </p:nvSpPr>
        <p:spPr>
          <a:xfrm>
            <a:off x="457200" y="609600"/>
            <a:ext cx="8229600" cy="276999"/>
          </a:xfrm>
        </p:spPr>
        <p:txBody>
          <a:bodyPr/>
          <a:lstStyle/>
          <a:p>
            <a:pPr marL="285750" indent="-285750">
              <a:buFont typeface="Arial" panose="020B0604020202020204" pitchFamily="34" charset="0"/>
              <a:buChar char="•"/>
            </a:pPr>
            <a:r>
              <a:rPr lang="en-IN" spc="-10" dirty="0">
                <a:solidFill>
                  <a:schemeClr val="accent1"/>
                </a:solidFill>
                <a:cs typeface="Calibri"/>
              </a:rPr>
              <a:t>Understanding</a:t>
            </a:r>
            <a:r>
              <a:rPr lang="en-IN" spc="-35" dirty="0">
                <a:solidFill>
                  <a:schemeClr val="accent1"/>
                </a:solidFill>
                <a:cs typeface="Calibri"/>
              </a:rPr>
              <a:t> </a:t>
            </a:r>
            <a:r>
              <a:rPr lang="en-IN" dirty="0">
                <a:solidFill>
                  <a:schemeClr val="accent1"/>
                </a:solidFill>
                <a:cs typeface="Calibri"/>
              </a:rPr>
              <a:t>of</a:t>
            </a:r>
            <a:r>
              <a:rPr lang="en-IN" spc="-35" dirty="0">
                <a:solidFill>
                  <a:schemeClr val="accent1"/>
                </a:solidFill>
                <a:cs typeface="Calibri"/>
              </a:rPr>
              <a:t> </a:t>
            </a:r>
            <a:r>
              <a:rPr lang="en-IN" dirty="0">
                <a:solidFill>
                  <a:schemeClr val="accent1"/>
                </a:solidFill>
                <a:cs typeface="Calibri"/>
              </a:rPr>
              <a:t>Python</a:t>
            </a:r>
            <a:r>
              <a:rPr lang="en-IN" spc="-30" dirty="0">
                <a:solidFill>
                  <a:schemeClr val="accent1"/>
                </a:solidFill>
                <a:cs typeface="Calibri"/>
              </a:rPr>
              <a:t> </a:t>
            </a:r>
            <a:r>
              <a:rPr lang="en-IN" spc="-10" dirty="0">
                <a:solidFill>
                  <a:schemeClr val="accent1"/>
                </a:solidFill>
                <a:cs typeface="Calibri"/>
              </a:rPr>
              <a:t>logic</a:t>
            </a:r>
            <a:r>
              <a:rPr lang="mr-IN" spc="-10" dirty="0">
                <a:solidFill>
                  <a:schemeClr val="accent1"/>
                </a:solidFill>
                <a:cs typeface="Calibri"/>
              </a:rPr>
              <a:t> </a:t>
            </a:r>
            <a:r>
              <a:rPr lang="en-IN" spc="-10" dirty="0">
                <a:solidFill>
                  <a:schemeClr val="accent1"/>
                </a:solidFill>
                <a:cs typeface="Calibri"/>
              </a:rPr>
              <a:t>: </a:t>
            </a:r>
            <a:endParaRPr lang="en-IN" dirty="0">
              <a:solidFill>
                <a:schemeClr val="accent1"/>
              </a:solidFill>
            </a:endParaRPr>
          </a:p>
        </p:txBody>
      </p:sp>
      <p:sp>
        <p:nvSpPr>
          <p:cNvPr id="5" name="TextBox 4">
            <a:extLst>
              <a:ext uri="{FF2B5EF4-FFF2-40B4-BE49-F238E27FC236}">
                <a16:creationId xmlns:a16="http://schemas.microsoft.com/office/drawing/2014/main" id="{216EDABB-A746-CA90-D782-4526B59C1642}"/>
              </a:ext>
            </a:extLst>
          </p:cNvPr>
          <p:cNvSpPr txBox="1"/>
          <p:nvPr/>
        </p:nvSpPr>
        <p:spPr>
          <a:xfrm>
            <a:off x="381000" y="1028343"/>
            <a:ext cx="8229600" cy="4524315"/>
          </a:xfrm>
          <a:prstGeom prst="rect">
            <a:avLst/>
          </a:prstGeom>
          <a:noFill/>
        </p:spPr>
        <p:txBody>
          <a:bodyPr wrap="square">
            <a:spAutoFit/>
          </a:bodyPr>
          <a:lstStyle/>
          <a:p>
            <a:r>
              <a:rPr lang="en-IN" b="1" dirty="0"/>
              <a:t>Python Logic Used in This Problem</a:t>
            </a:r>
          </a:p>
          <a:p>
            <a:pPr marL="400050" indent="-400050">
              <a:buFont typeface="+mj-lt"/>
              <a:buAutoNum type="romanLcPeriod"/>
            </a:pPr>
            <a:r>
              <a:rPr lang="en-IN" dirty="0"/>
              <a:t>The following Python programming logic is used in the </a:t>
            </a:r>
            <a:r>
              <a:rPr lang="en-IN" b="1" dirty="0"/>
              <a:t>File Encryption/Decryption Tool</a:t>
            </a:r>
            <a:r>
              <a:rPr lang="en-IN" dirty="0"/>
              <a:t>:</a:t>
            </a:r>
          </a:p>
          <a:p>
            <a:pPr marL="400050" indent="-400050">
              <a:buFont typeface="+mj-lt"/>
              <a:buAutoNum type="romanLcPeriod"/>
            </a:pPr>
            <a:r>
              <a:rPr lang="en-IN" b="1" dirty="0"/>
              <a:t>Conditional Statements (if-</a:t>
            </a:r>
            <a:r>
              <a:rPr lang="en-IN" b="1" dirty="0" err="1"/>
              <a:t>elif</a:t>
            </a:r>
            <a:r>
              <a:rPr lang="en-IN" b="1" dirty="0"/>
              <a:t>-else)</a:t>
            </a:r>
            <a:r>
              <a:rPr lang="en-IN" dirty="0"/>
              <a:t> – To select encryption, decryption, or exit based on the user's choice. </a:t>
            </a:r>
          </a:p>
          <a:p>
            <a:pPr marL="400050" indent="-400050">
              <a:buFont typeface="+mj-lt"/>
              <a:buAutoNum type="romanLcPeriod"/>
            </a:pPr>
            <a:r>
              <a:rPr lang="en-IN" b="1" dirty="0"/>
              <a:t>File Handling</a:t>
            </a:r>
            <a:r>
              <a:rPr lang="en-IN" dirty="0"/>
              <a:t> – To open, read, write, and save files using Python.</a:t>
            </a:r>
          </a:p>
          <a:p>
            <a:pPr marL="400050" indent="-400050">
              <a:buFont typeface="+mj-lt"/>
              <a:buAutoNum type="romanLcPeriod"/>
            </a:pPr>
            <a:r>
              <a:rPr lang="en-IN" b="1" dirty="0"/>
              <a:t>Functions</a:t>
            </a:r>
            <a:r>
              <a:rPr lang="en-IN" dirty="0"/>
              <a:t> – To create separate functions for encryption and decryption operations. </a:t>
            </a:r>
          </a:p>
          <a:p>
            <a:pPr marL="400050" indent="-400050">
              <a:buFont typeface="+mj-lt"/>
              <a:buAutoNum type="romanLcPeriod"/>
            </a:pPr>
            <a:r>
              <a:rPr lang="en-IN" b="1" dirty="0"/>
              <a:t>Loops (while)</a:t>
            </a:r>
            <a:r>
              <a:rPr lang="en-IN" dirty="0"/>
              <a:t> – To allow the user to perform multiple encryption/decryption operations. </a:t>
            </a:r>
          </a:p>
          <a:p>
            <a:pPr marL="400050" indent="-400050">
              <a:buFont typeface="+mj-lt"/>
              <a:buAutoNum type="romanLcPeriod"/>
            </a:pPr>
            <a:r>
              <a:rPr lang="en-IN" b="1" dirty="0"/>
              <a:t>User Input</a:t>
            </a:r>
            <a:r>
              <a:rPr lang="en-IN" dirty="0"/>
              <a:t> – To take the file name/path, operation choice, and secret key from the user. </a:t>
            </a:r>
          </a:p>
          <a:p>
            <a:pPr marL="400050" indent="-400050">
              <a:buFont typeface="+mj-lt"/>
              <a:buAutoNum type="romanLcPeriod"/>
            </a:pPr>
            <a:r>
              <a:rPr lang="en-IN" b="1" dirty="0"/>
              <a:t>Exception Handling (try-except)</a:t>
            </a:r>
            <a:r>
              <a:rPr lang="en-IN" dirty="0"/>
              <a:t> – To handle errors such as an incorrect key or missing file. </a:t>
            </a:r>
          </a:p>
          <a:p>
            <a:pPr marL="400050" indent="-400050">
              <a:buFont typeface="+mj-lt"/>
              <a:buAutoNum type="romanLcPeriod"/>
            </a:pPr>
            <a:r>
              <a:rPr lang="en-IN" b="1" dirty="0"/>
              <a:t>Cryptography Logic</a:t>
            </a:r>
            <a:r>
              <a:rPr lang="en-IN" dirty="0"/>
              <a:t> – To convert readable data into encrypted/unreadable data and restore it using the correct key.</a:t>
            </a:r>
          </a:p>
        </p:txBody>
      </p:sp>
      <p:sp>
        <p:nvSpPr>
          <p:cNvPr id="7" name="TextBox 6">
            <a:extLst>
              <a:ext uri="{FF2B5EF4-FFF2-40B4-BE49-F238E27FC236}">
                <a16:creationId xmlns:a16="http://schemas.microsoft.com/office/drawing/2014/main" id="{9CE2E3A6-B5C2-249B-D695-27B29FC14AF0}"/>
              </a:ext>
            </a:extLst>
          </p:cNvPr>
          <p:cNvSpPr txBox="1"/>
          <p:nvPr/>
        </p:nvSpPr>
        <p:spPr>
          <a:xfrm>
            <a:off x="152400" y="6400800"/>
            <a:ext cx="4572000" cy="276999"/>
          </a:xfrm>
          <a:prstGeom prst="rect">
            <a:avLst/>
          </a:prstGeom>
          <a:noFill/>
        </p:spPr>
        <p:txBody>
          <a:bodyPr wrap="square">
            <a:spAutoFit/>
          </a:bodyPr>
          <a:lstStyle/>
          <a:p>
            <a:r>
              <a:rPr lang="en-US" sz="1200" dirty="0">
                <a:solidFill>
                  <a:srgbClr val="FFFFFF"/>
                </a:solidFill>
                <a:latin typeface="Arial MT"/>
                <a:cs typeface="Arial MT"/>
              </a:rPr>
              <a:t>S.</a:t>
            </a:r>
            <a:r>
              <a:rPr lang="en-US" sz="1200" spc="-25" dirty="0">
                <a:solidFill>
                  <a:srgbClr val="FFFFFF"/>
                </a:solidFill>
                <a:latin typeface="Arial MT"/>
                <a:cs typeface="Arial MT"/>
              </a:rPr>
              <a:t> </a:t>
            </a:r>
            <a:r>
              <a:rPr lang="en-US" sz="1200" dirty="0">
                <a:solidFill>
                  <a:srgbClr val="FFFFFF"/>
                </a:solidFill>
                <a:latin typeface="Arial MT"/>
                <a:cs typeface="Arial MT"/>
              </a:rPr>
              <a:t>B.</a:t>
            </a:r>
            <a:r>
              <a:rPr lang="en-US" sz="1200" spc="-25" dirty="0">
                <a:solidFill>
                  <a:srgbClr val="FFFFFF"/>
                </a:solidFill>
                <a:latin typeface="Arial MT"/>
                <a:cs typeface="Arial MT"/>
              </a:rPr>
              <a:t> </a:t>
            </a:r>
            <a:r>
              <a:rPr lang="en-US" sz="1200" dirty="0">
                <a:solidFill>
                  <a:srgbClr val="FFFFFF"/>
                </a:solidFill>
                <a:latin typeface="Arial MT"/>
                <a:cs typeface="Arial MT"/>
              </a:rPr>
              <a:t>Jain</a:t>
            </a:r>
            <a:r>
              <a:rPr lang="en-US" sz="1200" spc="-25" dirty="0">
                <a:solidFill>
                  <a:srgbClr val="FFFFFF"/>
                </a:solidFill>
                <a:latin typeface="Arial MT"/>
                <a:cs typeface="Arial MT"/>
              </a:rPr>
              <a:t> </a:t>
            </a:r>
            <a:r>
              <a:rPr lang="en-US" sz="1200" dirty="0">
                <a:solidFill>
                  <a:srgbClr val="FFFFFF"/>
                </a:solidFill>
                <a:latin typeface="Arial MT"/>
                <a:cs typeface="Arial MT"/>
              </a:rPr>
              <a:t>Institute</a:t>
            </a:r>
            <a:r>
              <a:rPr lang="en-US" sz="1200" spc="-25" dirty="0">
                <a:solidFill>
                  <a:srgbClr val="FFFFFF"/>
                </a:solidFill>
                <a:latin typeface="Arial MT"/>
                <a:cs typeface="Arial MT"/>
              </a:rPr>
              <a:t> </a:t>
            </a:r>
            <a:r>
              <a:rPr lang="en-US" sz="1200" dirty="0">
                <a:solidFill>
                  <a:srgbClr val="FFFFFF"/>
                </a:solidFill>
                <a:latin typeface="Arial MT"/>
                <a:cs typeface="Arial MT"/>
              </a:rPr>
              <a:t>of</a:t>
            </a:r>
            <a:r>
              <a:rPr lang="en-US" sz="1200" spc="-25" dirty="0">
                <a:solidFill>
                  <a:srgbClr val="FFFFFF"/>
                </a:solidFill>
                <a:latin typeface="Arial MT"/>
                <a:cs typeface="Arial MT"/>
              </a:rPr>
              <a:t> </a:t>
            </a:r>
            <a:r>
              <a:rPr lang="en-US" sz="1200" dirty="0">
                <a:solidFill>
                  <a:srgbClr val="FFFFFF"/>
                </a:solidFill>
                <a:latin typeface="Arial MT"/>
                <a:cs typeface="Arial MT"/>
              </a:rPr>
              <a:t>Technology</a:t>
            </a:r>
            <a:r>
              <a:rPr lang="en-US" sz="1200" spc="-25" dirty="0">
                <a:solidFill>
                  <a:srgbClr val="FFFFFF"/>
                </a:solidFill>
                <a:latin typeface="Arial MT"/>
                <a:cs typeface="Arial MT"/>
              </a:rPr>
              <a:t> </a:t>
            </a:r>
            <a:r>
              <a:rPr lang="en-US" sz="1200" dirty="0">
                <a:solidFill>
                  <a:srgbClr val="FFFFFF"/>
                </a:solidFill>
                <a:latin typeface="Arial MT"/>
                <a:cs typeface="Arial MT"/>
              </a:rPr>
              <a:t>Management</a:t>
            </a:r>
            <a:r>
              <a:rPr lang="en-US" sz="1200" spc="-25" dirty="0">
                <a:solidFill>
                  <a:srgbClr val="FFFFFF"/>
                </a:solidFill>
                <a:latin typeface="Arial MT"/>
                <a:cs typeface="Arial MT"/>
              </a:rPr>
              <a:t> and </a:t>
            </a:r>
            <a:endParaRPr lang="en-IN" dirty="0"/>
          </a:p>
        </p:txBody>
      </p:sp>
    </p:spTree>
    <p:extLst>
      <p:ext uri="{BB962C8B-B14F-4D97-AF65-F5344CB8AC3E}">
        <p14:creationId xmlns:p14="http://schemas.microsoft.com/office/powerpoint/2010/main" val="486373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81000" y="457200"/>
            <a:ext cx="7696200" cy="1167499"/>
          </a:xfrm>
          <a:prstGeom prst="rect">
            <a:avLst/>
          </a:prstGeom>
        </p:spPr>
        <p:txBody>
          <a:bodyPr vert="horz" wrap="square" lIns="0" tIns="12700" rIns="0" bIns="0" rtlCol="0">
            <a:spAutoFit/>
          </a:bodyPr>
          <a:lstStyle/>
          <a:p>
            <a:pPr marL="285750" lvl="0" indent="-285750" algn="l" rtl="0">
              <a:lnSpc>
                <a:spcPct val="150000"/>
              </a:lnSpc>
              <a:spcBef>
                <a:spcPts val="0"/>
              </a:spcBef>
              <a:spcAft>
                <a:spcPts val="1200"/>
              </a:spcAft>
              <a:buClr>
                <a:srgbClr val="1E2761"/>
              </a:buClr>
              <a:buSzPts val="1600"/>
              <a:buFont typeface="Arial" panose="020B0604020202020204" pitchFamily="34" charset="0"/>
              <a:buChar char="•"/>
            </a:pPr>
            <a:r>
              <a:rPr lang="en-IN" sz="1800" b="0" dirty="0">
                <a:solidFill>
                  <a:schemeClr val="accent1"/>
                </a:solidFill>
                <a:latin typeface="Calibri"/>
                <a:cs typeface="Calibri"/>
              </a:rPr>
              <a:t>GitHub</a:t>
            </a:r>
            <a:r>
              <a:rPr lang="en-IN" sz="1800" b="0" spc="-55" dirty="0">
                <a:solidFill>
                  <a:schemeClr val="accent1"/>
                </a:solidFill>
                <a:latin typeface="Calibri"/>
                <a:cs typeface="Calibri"/>
              </a:rPr>
              <a:t> </a:t>
            </a:r>
            <a:r>
              <a:rPr lang="en-IN" sz="1800" b="0" dirty="0">
                <a:solidFill>
                  <a:schemeClr val="accent1"/>
                </a:solidFill>
                <a:latin typeface="Calibri"/>
                <a:cs typeface="Calibri"/>
              </a:rPr>
              <a:t>account,</a:t>
            </a:r>
            <a:r>
              <a:rPr lang="en-IN" sz="1800" b="0" spc="-55" dirty="0">
                <a:solidFill>
                  <a:schemeClr val="accent1"/>
                </a:solidFill>
                <a:latin typeface="Calibri"/>
                <a:cs typeface="Calibri"/>
              </a:rPr>
              <a:t> </a:t>
            </a:r>
            <a:r>
              <a:rPr lang="en-IN" sz="1800" b="0" dirty="0">
                <a:solidFill>
                  <a:schemeClr val="accent1"/>
                </a:solidFill>
                <a:latin typeface="Calibri"/>
                <a:cs typeface="Calibri"/>
              </a:rPr>
              <a:t>repository</a:t>
            </a:r>
            <a:r>
              <a:rPr lang="en-IN" sz="1800" b="0" spc="-55" dirty="0">
                <a:solidFill>
                  <a:schemeClr val="accent1"/>
                </a:solidFill>
                <a:latin typeface="Calibri"/>
                <a:cs typeface="Calibri"/>
              </a:rPr>
              <a:t> </a:t>
            </a:r>
            <a:r>
              <a:rPr lang="en-IN" sz="1800" b="0" spc="-10" dirty="0">
                <a:solidFill>
                  <a:schemeClr val="accent1"/>
                </a:solidFill>
                <a:latin typeface="Calibri"/>
                <a:cs typeface="Calibri"/>
              </a:rPr>
              <a:t>creation,</a:t>
            </a:r>
            <a:r>
              <a:rPr lang="en-IN" sz="1800" b="0" spc="-55" dirty="0">
                <a:solidFill>
                  <a:schemeClr val="accent1"/>
                </a:solidFill>
                <a:latin typeface="Calibri"/>
                <a:cs typeface="Calibri"/>
              </a:rPr>
              <a:t> </a:t>
            </a:r>
            <a:r>
              <a:rPr lang="en-IN" sz="1800" b="0" spc="-10" dirty="0">
                <a:solidFill>
                  <a:schemeClr val="accent1"/>
                </a:solidFill>
                <a:latin typeface="Calibri"/>
                <a:cs typeface="Calibri"/>
              </a:rPr>
              <a:t>uploading</a:t>
            </a:r>
            <a:r>
              <a:rPr lang="en-IN" sz="1800" b="0" spc="-55" dirty="0">
                <a:solidFill>
                  <a:schemeClr val="accent1"/>
                </a:solidFill>
                <a:latin typeface="Calibri"/>
                <a:cs typeface="Calibri"/>
              </a:rPr>
              <a:t> </a:t>
            </a:r>
            <a:r>
              <a:rPr lang="en-IN" sz="1800" b="0" dirty="0">
                <a:solidFill>
                  <a:schemeClr val="accent1"/>
                </a:solidFill>
                <a:latin typeface="Calibri"/>
                <a:cs typeface="Calibri"/>
              </a:rPr>
              <a:t>code,</a:t>
            </a:r>
            <a:r>
              <a:rPr lang="en-IN" sz="1800" b="0" spc="-55" dirty="0">
                <a:solidFill>
                  <a:schemeClr val="accent1"/>
                </a:solidFill>
                <a:latin typeface="Calibri"/>
                <a:cs typeface="Calibri"/>
              </a:rPr>
              <a:t> </a:t>
            </a:r>
            <a:r>
              <a:rPr lang="en-IN" sz="1800" b="0" spc="-10" dirty="0">
                <a:solidFill>
                  <a:schemeClr val="accent1"/>
                </a:solidFill>
                <a:latin typeface="Calibri"/>
                <a:cs typeface="Calibri"/>
              </a:rPr>
              <a:t>meaningful</a:t>
            </a:r>
            <a:r>
              <a:rPr lang="en-IN" sz="1800" b="0" spc="-55" dirty="0">
                <a:solidFill>
                  <a:schemeClr val="accent1"/>
                </a:solidFill>
                <a:latin typeface="Calibri"/>
                <a:cs typeface="Calibri"/>
              </a:rPr>
              <a:t> </a:t>
            </a:r>
            <a:r>
              <a:rPr lang="en-IN" sz="1800" b="0" spc="-10" dirty="0">
                <a:solidFill>
                  <a:schemeClr val="accent1"/>
                </a:solidFill>
                <a:latin typeface="Calibri"/>
                <a:cs typeface="Calibri"/>
              </a:rPr>
              <a:t>commits, collaboration,</a:t>
            </a:r>
            <a:r>
              <a:rPr lang="en-IN" sz="1800" b="0" spc="-30" dirty="0">
                <a:solidFill>
                  <a:schemeClr val="accent1"/>
                </a:solidFill>
                <a:latin typeface="Calibri"/>
                <a:cs typeface="Calibri"/>
              </a:rPr>
              <a:t> </a:t>
            </a:r>
            <a:r>
              <a:rPr lang="en-IN" sz="1800" b="0" spc="-10" dirty="0">
                <a:solidFill>
                  <a:schemeClr val="accent1"/>
                </a:solidFill>
                <a:latin typeface="Calibri"/>
                <a:cs typeface="Calibri"/>
              </a:rPr>
              <a:t>individual</a:t>
            </a:r>
            <a:r>
              <a:rPr lang="en-IN" sz="1800" b="0" spc="-25" dirty="0">
                <a:solidFill>
                  <a:schemeClr val="accent1"/>
                </a:solidFill>
                <a:latin typeface="Calibri"/>
                <a:cs typeface="Calibri"/>
              </a:rPr>
              <a:t> </a:t>
            </a:r>
            <a:r>
              <a:rPr lang="en-IN" sz="1800" b="0" spc="-10" dirty="0">
                <a:solidFill>
                  <a:schemeClr val="accent1"/>
                </a:solidFill>
                <a:latin typeface="Calibri"/>
                <a:cs typeface="Calibri"/>
              </a:rPr>
              <a:t>contribution</a:t>
            </a:r>
            <a:br>
              <a:rPr lang="en-US" sz="1600" b="0" dirty="0">
                <a:solidFill>
                  <a:schemeClr val="tx1"/>
                </a:solidFill>
              </a:rPr>
            </a:br>
            <a:endParaRPr sz="1600" b="0" spc="-25" dirty="0">
              <a:solidFill>
                <a:schemeClr val="tx1"/>
              </a:solidFill>
            </a:endParaRPr>
          </a:p>
        </p:txBody>
      </p:sp>
      <p:sp>
        <p:nvSpPr>
          <p:cNvPr id="5" name="TextBox 4">
            <a:extLst>
              <a:ext uri="{FF2B5EF4-FFF2-40B4-BE49-F238E27FC236}">
                <a16:creationId xmlns:a16="http://schemas.microsoft.com/office/drawing/2014/main" id="{27B7CD8B-8765-3B1E-3680-5D42F3DA0C0C}"/>
              </a:ext>
            </a:extLst>
          </p:cNvPr>
          <p:cNvSpPr txBox="1"/>
          <p:nvPr/>
        </p:nvSpPr>
        <p:spPr>
          <a:xfrm>
            <a:off x="152400" y="6400800"/>
            <a:ext cx="4572000" cy="276999"/>
          </a:xfrm>
          <a:prstGeom prst="rect">
            <a:avLst/>
          </a:prstGeom>
          <a:noFill/>
        </p:spPr>
        <p:txBody>
          <a:bodyPr wrap="square">
            <a:spAutoFit/>
          </a:bodyPr>
          <a:lstStyle/>
          <a:p>
            <a:r>
              <a:rPr lang="en-US" sz="1200" dirty="0">
                <a:solidFill>
                  <a:srgbClr val="FFFFFF"/>
                </a:solidFill>
                <a:latin typeface="Arial MT"/>
                <a:cs typeface="Arial MT"/>
              </a:rPr>
              <a:t>S.</a:t>
            </a:r>
            <a:r>
              <a:rPr lang="en-US" sz="1200" spc="-25" dirty="0">
                <a:solidFill>
                  <a:srgbClr val="FFFFFF"/>
                </a:solidFill>
                <a:latin typeface="Arial MT"/>
                <a:cs typeface="Arial MT"/>
              </a:rPr>
              <a:t> </a:t>
            </a:r>
            <a:r>
              <a:rPr lang="en-US" sz="1200" dirty="0">
                <a:solidFill>
                  <a:srgbClr val="FFFFFF"/>
                </a:solidFill>
                <a:latin typeface="Arial MT"/>
                <a:cs typeface="Arial MT"/>
              </a:rPr>
              <a:t>B.</a:t>
            </a:r>
            <a:r>
              <a:rPr lang="en-US" sz="1200" spc="-25" dirty="0">
                <a:solidFill>
                  <a:srgbClr val="FFFFFF"/>
                </a:solidFill>
                <a:latin typeface="Arial MT"/>
                <a:cs typeface="Arial MT"/>
              </a:rPr>
              <a:t> </a:t>
            </a:r>
            <a:r>
              <a:rPr lang="en-US" sz="1200" dirty="0">
                <a:solidFill>
                  <a:srgbClr val="FFFFFF"/>
                </a:solidFill>
                <a:latin typeface="Arial MT"/>
                <a:cs typeface="Arial MT"/>
              </a:rPr>
              <a:t>Jain</a:t>
            </a:r>
            <a:r>
              <a:rPr lang="en-US" sz="1200" spc="-25" dirty="0">
                <a:solidFill>
                  <a:srgbClr val="FFFFFF"/>
                </a:solidFill>
                <a:latin typeface="Arial MT"/>
                <a:cs typeface="Arial MT"/>
              </a:rPr>
              <a:t> </a:t>
            </a:r>
            <a:r>
              <a:rPr lang="en-US" sz="1200" dirty="0">
                <a:solidFill>
                  <a:srgbClr val="FFFFFF"/>
                </a:solidFill>
                <a:latin typeface="Arial MT"/>
                <a:cs typeface="Arial MT"/>
              </a:rPr>
              <a:t>Institute</a:t>
            </a:r>
            <a:r>
              <a:rPr lang="en-US" sz="1200" spc="-25" dirty="0">
                <a:solidFill>
                  <a:srgbClr val="FFFFFF"/>
                </a:solidFill>
                <a:latin typeface="Arial MT"/>
                <a:cs typeface="Arial MT"/>
              </a:rPr>
              <a:t> </a:t>
            </a:r>
            <a:r>
              <a:rPr lang="en-US" sz="1200" dirty="0">
                <a:solidFill>
                  <a:srgbClr val="FFFFFF"/>
                </a:solidFill>
                <a:latin typeface="Arial MT"/>
                <a:cs typeface="Arial MT"/>
              </a:rPr>
              <a:t>of</a:t>
            </a:r>
            <a:r>
              <a:rPr lang="en-US" sz="1200" spc="-25" dirty="0">
                <a:solidFill>
                  <a:srgbClr val="FFFFFF"/>
                </a:solidFill>
                <a:latin typeface="Arial MT"/>
                <a:cs typeface="Arial MT"/>
              </a:rPr>
              <a:t> </a:t>
            </a:r>
            <a:r>
              <a:rPr lang="en-US" sz="1200" dirty="0">
                <a:solidFill>
                  <a:srgbClr val="FFFFFF"/>
                </a:solidFill>
                <a:latin typeface="Arial MT"/>
                <a:cs typeface="Arial MT"/>
              </a:rPr>
              <a:t>Technology</a:t>
            </a:r>
            <a:r>
              <a:rPr lang="en-US" sz="1200" spc="-25" dirty="0">
                <a:solidFill>
                  <a:srgbClr val="FFFFFF"/>
                </a:solidFill>
                <a:latin typeface="Arial MT"/>
                <a:cs typeface="Arial MT"/>
              </a:rPr>
              <a:t> </a:t>
            </a:r>
            <a:r>
              <a:rPr lang="en-US" sz="1200" dirty="0">
                <a:solidFill>
                  <a:srgbClr val="FFFFFF"/>
                </a:solidFill>
                <a:latin typeface="Arial MT"/>
                <a:cs typeface="Arial MT"/>
              </a:rPr>
              <a:t>Management</a:t>
            </a:r>
            <a:r>
              <a:rPr lang="en-US" sz="1200" spc="-25" dirty="0">
                <a:solidFill>
                  <a:srgbClr val="FFFFFF"/>
                </a:solidFill>
                <a:latin typeface="Arial MT"/>
                <a:cs typeface="Arial MT"/>
              </a:rPr>
              <a:t> and </a:t>
            </a:r>
            <a:endParaRPr lang="en-IN" dirty="0"/>
          </a:p>
        </p:txBody>
      </p:sp>
      <p:sp>
        <p:nvSpPr>
          <p:cNvPr id="3" name="TextBox 2">
            <a:extLst>
              <a:ext uri="{FF2B5EF4-FFF2-40B4-BE49-F238E27FC236}">
                <a16:creationId xmlns:a16="http://schemas.microsoft.com/office/drawing/2014/main" id="{3E288569-C1D8-A314-6562-210ECAB4063E}"/>
              </a:ext>
            </a:extLst>
          </p:cNvPr>
          <p:cNvSpPr txBox="1"/>
          <p:nvPr/>
        </p:nvSpPr>
        <p:spPr>
          <a:xfrm>
            <a:off x="508820" y="1524000"/>
            <a:ext cx="7543799" cy="3970318"/>
          </a:xfrm>
          <a:prstGeom prst="rect">
            <a:avLst/>
          </a:prstGeom>
          <a:noFill/>
        </p:spPr>
        <p:txBody>
          <a:bodyPr wrap="square" rtlCol="0">
            <a:spAutoFit/>
          </a:bodyPr>
          <a:lstStyle/>
          <a:p>
            <a:pPr marL="285750" indent="-285750">
              <a:buFont typeface="Arial" panose="020B0604020202020204" pitchFamily="34" charset="0"/>
              <a:buChar char="•"/>
            </a:pPr>
            <a:r>
              <a:rPr lang="en-US" sz="1800" b="0" dirty="0">
                <a:solidFill>
                  <a:schemeClr val="tx1"/>
                </a:solidFill>
              </a:rPr>
              <a:t>Create a GitHub account and set up a new </a:t>
            </a:r>
            <a:r>
              <a:rPr lang="en-US" sz="1800" b="0" dirty="0" err="1">
                <a:solidFill>
                  <a:schemeClr val="tx1"/>
                </a:solidFill>
              </a:rPr>
              <a:t>reposiory</a:t>
            </a:r>
            <a:r>
              <a:rPr lang="en-US" sz="1800" b="0" dirty="0">
                <a:solidFill>
                  <a:schemeClr val="tx1"/>
                </a:solidFill>
              </a:rPr>
              <a:t> for the project.</a:t>
            </a:r>
          </a:p>
          <a:p>
            <a:pPr marL="285750" indent="-285750">
              <a:buFont typeface="Arial" panose="020B0604020202020204" pitchFamily="34" charset="0"/>
              <a:buChar char="•"/>
            </a:pPr>
            <a:r>
              <a:rPr lang="en-US" sz="1800" b="0" dirty="0">
                <a:solidFill>
                  <a:schemeClr val="tx1"/>
                </a:solidFill>
              </a:rPr>
              <a:t>Upload the project code, along with a README explaining setup and usage.</a:t>
            </a:r>
          </a:p>
          <a:p>
            <a:pPr marL="285750" indent="-285750">
              <a:buFont typeface="Arial" panose="020B0604020202020204" pitchFamily="34" charset="0"/>
              <a:buChar char="•"/>
            </a:pPr>
            <a:r>
              <a:rPr lang="en-US" sz="1800" b="0" dirty="0">
                <a:solidFill>
                  <a:schemeClr val="tx1"/>
                </a:solidFill>
              </a:rPr>
              <a:t>Make meaningful, incremental commits that describe each change (e.g., "Add encryption function", "Add error handling").</a:t>
            </a:r>
          </a:p>
          <a:p>
            <a:pPr marL="285750" indent="-285750">
              <a:buFont typeface="Arial" panose="020B0604020202020204" pitchFamily="34" charset="0"/>
              <a:buChar char="•"/>
            </a:pPr>
            <a:r>
              <a:rPr lang="en-US" sz="1800" b="0" dirty="0">
                <a:solidFill>
                  <a:schemeClr val="tx1"/>
                </a:solidFill>
              </a:rPr>
              <a:t>Collaborate using branches and pull requests when working with a team.</a:t>
            </a:r>
          </a:p>
          <a:p>
            <a:pPr marL="285750" indent="-285750">
              <a:buFont typeface="Arial" panose="020B0604020202020204" pitchFamily="34" charset="0"/>
              <a:buChar char="•"/>
            </a:pPr>
            <a:r>
              <a:rPr lang="en-US" sz="1800" b="0">
                <a:solidFill>
                  <a:schemeClr val="tx1"/>
                </a:solidFill>
              </a:rPr>
              <a:t>Track individual contribution through commit history so each member's work is visible.</a:t>
            </a:r>
            <a:br>
              <a:rPr lang="en-US" sz="1800" b="0">
                <a:solidFill>
                  <a:schemeClr val="tx1"/>
                </a:solidFill>
              </a:rPr>
            </a:br>
            <a:br>
              <a:rPr lang="en-US" sz="1800" b="0" dirty="0">
                <a:solidFill>
                  <a:schemeClr val="tx1"/>
                </a:solidFill>
              </a:rPr>
            </a:br>
            <a:br>
              <a:rPr lang="en-US" sz="1800" b="0" dirty="0">
                <a:solidFill>
                  <a:schemeClr val="tx1"/>
                </a:solidFill>
              </a:rPr>
            </a:br>
            <a:br>
              <a:rPr lang="en-US" sz="1800" b="0" dirty="0">
                <a:solidFill>
                  <a:schemeClr val="tx1"/>
                </a:solidFill>
              </a:rPr>
            </a:br>
            <a:br>
              <a:rPr lang="en-US" sz="1800" b="0">
                <a:solidFill>
                  <a:schemeClr val="tx1"/>
                </a:solidFill>
              </a:rPr>
            </a:b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F03B-21AB-61AD-C5A6-43F7C41FDF7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0883B93-6AF4-2246-DEBF-3FAA85BC9FB9}"/>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6540C224-1701-BE62-DC09-7001B84F27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 name="Picture 5">
            <a:extLst>
              <a:ext uri="{FF2B5EF4-FFF2-40B4-BE49-F238E27FC236}">
                <a16:creationId xmlns:a16="http://schemas.microsoft.com/office/drawing/2014/main" id="{DFF1405C-EA73-5B7E-2A44-DA0A267B6580}"/>
              </a:ext>
            </a:extLst>
          </p:cNvPr>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2050430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TotalTime>
  <Words>709</Words>
  <Application>Microsoft Office PowerPoint</Application>
  <PresentationFormat>On-screen Show (4:3)</PresentationFormat>
  <Paragraphs>61</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 MT</vt:lpstr>
      <vt:lpstr>Calibri</vt:lpstr>
      <vt:lpstr>Courier New</vt:lpstr>
      <vt:lpstr>Times New Roman</vt:lpstr>
      <vt:lpstr>Office Theme</vt:lpstr>
      <vt:lpstr>Experiential Learning Project Assessment-I on “File Encryption/Decryption Tool”</vt:lpstr>
      <vt:lpstr>Contents</vt:lpstr>
      <vt:lpstr>PowerPoint Presentation</vt:lpstr>
      <vt:lpstr>PowerPoint Presentation</vt:lpstr>
      <vt:lpstr> </vt:lpstr>
      <vt:lpstr>PowerPoint Presentation</vt:lpstr>
      <vt:lpstr>GitHub account, repository creation, uploading code, meaningful commits, collaboration, individual contribution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NiveditaN</dc:creator>
  <cp:lastModifiedBy>Nivedita Nandurkar</cp:lastModifiedBy>
  <cp:revision>4</cp:revision>
  <dcterms:created xsi:type="dcterms:W3CDTF">2026-08-13T11:36:25Z</dcterms:created>
  <dcterms:modified xsi:type="dcterms:W3CDTF">2026-08-17T06:04:15Z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2026-08-13T00:00:00Z</vt:filetime>
  </property>
  <property fmtid="{D5CDD505-2E9C-101B-9397-08002B2CF9AE}" pid="4" name="Creator">
    <vt:lpwstr>Google</vt:lpwstr>
  </property>
  <property fmtid="{D5CDD505-2E9C-101B-9397-08002B2CF9AE}" pid="5" name="LastSaved">
    <vt:filetime>2026-08-13T00:00:00Z</vt:filetime>
  </property>
</Properties>
</file>